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Cormorant Garamond Bold Italics" charset="1" panose="00000800000000000000"/>
      <p:regular r:id="rId35"/>
    </p:embeddedFont>
    <p:embeddedFont>
      <p:font typeface="Quicksand" charset="1" panose="00000000000000000000"/>
      <p:regular r:id="rId36"/>
    </p:embeddedFont>
    <p:embeddedFont>
      <p:font typeface="Cormorant Garamond Bold" charset="1" panose="00000800000000000000"/>
      <p:regular r:id="rId37"/>
    </p:embeddedFont>
    <p:embeddedFont>
      <p:font typeface="Quicksand Bold" charset="1" panose="00000000000000000000"/>
      <p:regular r:id="rId38"/>
    </p:embeddedFont>
    <p:embeddedFont>
      <p:font typeface="Cormorant Garamond" charset="1" panose="000005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 Id="rId4" Target="../media/image5.jpe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6.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jpeg" Type="http://schemas.openxmlformats.org/officeDocument/2006/relationships/image"/><Relationship Id="rId5" Target="../media/image8.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embeddings/oleObject1.bin" Type="http://schemas.openxmlformats.org/officeDocument/2006/relationships/oleObjec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embeddings/oleObject2.bin" Type="http://schemas.openxmlformats.org/officeDocument/2006/relationships/oleObject"/><Relationship Id="rId4" Target="../media/image22.png" Type="http://schemas.openxmlformats.org/officeDocument/2006/relationships/image"/><Relationship Id="rId5" Target="../embeddings/oleObject3.bin" Type="http://schemas.openxmlformats.org/officeDocument/2006/relationships/oleObject"/><Relationship Id="rId6" Target="../media/image23.png" Type="http://schemas.openxmlformats.org/officeDocument/2006/relationships/image"/><Relationship Id="rId7" Target="../embeddings/oleObject4.bin" Type="http://schemas.openxmlformats.org/officeDocument/2006/relationships/oleObjec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png" Type="http://schemas.openxmlformats.org/officeDocument/2006/relationships/image"/><Relationship Id="rId3" Target="../embeddings/oleObject5.bin" Type="http://schemas.openxmlformats.org/officeDocument/2006/relationships/oleObjec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043764" y="2478342"/>
            <a:ext cx="16229942" cy="3185722"/>
          </a:xfrm>
          <a:prstGeom prst="rect">
            <a:avLst/>
          </a:prstGeom>
        </p:spPr>
        <p:txBody>
          <a:bodyPr anchor="t" rtlCol="false" tIns="0" lIns="0" bIns="0" rIns="0">
            <a:spAutoFit/>
          </a:bodyPr>
          <a:lstStyle/>
          <a:p>
            <a:pPr algn="ctr" marL="0" indent="0" lvl="0">
              <a:lnSpc>
                <a:spcPts val="26009"/>
              </a:lnSpc>
              <a:spcBef>
                <a:spcPct val="0"/>
              </a:spcBef>
            </a:pPr>
            <a:r>
              <a:rPr lang="en-US" b="true" sz="18577" i="true">
                <a:solidFill>
                  <a:srgbClr val="0F4662"/>
                </a:solidFill>
                <a:latin typeface="Cormorant Garamond Bold Italics"/>
                <a:ea typeface="Cormorant Garamond Bold Italics"/>
                <a:cs typeface="Cormorant Garamond Bold Italics"/>
                <a:sym typeface="Cormorant Garamond Bold Italics"/>
              </a:rPr>
              <a:t>FixFlow</a:t>
            </a:r>
          </a:p>
        </p:txBody>
      </p:sp>
      <p:sp>
        <p:nvSpPr>
          <p:cNvPr name="AutoShape 3" id="3"/>
          <p:cNvSpPr/>
          <p:nvPr/>
        </p:nvSpPr>
        <p:spPr>
          <a:xfrm>
            <a:off x="9158735" y="990600"/>
            <a:ext cx="8114971" cy="0"/>
          </a:xfrm>
          <a:prstGeom prst="line">
            <a:avLst/>
          </a:prstGeom>
          <a:ln cap="flat" w="76200">
            <a:solidFill>
              <a:srgbClr val="0F4662"/>
            </a:solidFill>
            <a:prstDash val="solid"/>
            <a:headEnd type="none" len="sm" w="sm"/>
            <a:tailEnd type="none" len="sm" w="sm"/>
          </a:ln>
        </p:spPr>
      </p:sp>
      <p:sp>
        <p:nvSpPr>
          <p:cNvPr name="AutoShape 4" id="4"/>
          <p:cNvSpPr/>
          <p:nvPr/>
        </p:nvSpPr>
        <p:spPr>
          <a:xfrm>
            <a:off x="1043764" y="9296400"/>
            <a:ext cx="8114971" cy="0"/>
          </a:xfrm>
          <a:prstGeom prst="line">
            <a:avLst/>
          </a:prstGeom>
          <a:ln cap="flat" w="76200">
            <a:solidFill>
              <a:srgbClr val="0F4662"/>
            </a:solidFill>
            <a:prstDash val="solid"/>
            <a:headEnd type="none" len="sm" w="sm"/>
            <a:tailEnd type="none" len="sm" w="sm"/>
          </a:ln>
        </p:spPr>
      </p:sp>
      <p:sp>
        <p:nvSpPr>
          <p:cNvPr name="Freeform 5" id="5"/>
          <p:cNvSpPr/>
          <p:nvPr/>
        </p:nvSpPr>
        <p:spPr>
          <a:xfrm flipH="false" flipV="false" rot="0">
            <a:off x="9618706" y="90374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737539" y="5908475"/>
            <a:ext cx="12812922" cy="837844"/>
          </a:xfrm>
          <a:prstGeom prst="rect">
            <a:avLst/>
          </a:prstGeom>
        </p:spPr>
        <p:txBody>
          <a:bodyPr anchor="t" rtlCol="false" tIns="0" lIns="0" bIns="0" rIns="0">
            <a:spAutoFit/>
          </a:bodyPr>
          <a:lstStyle/>
          <a:p>
            <a:pPr algn="ctr" marL="0" indent="0" lvl="0">
              <a:lnSpc>
                <a:spcPts val="6844"/>
              </a:lnSpc>
              <a:spcBef>
                <a:spcPct val="0"/>
              </a:spcBef>
            </a:pPr>
            <a:r>
              <a:rPr lang="en-US" sz="4889">
                <a:solidFill>
                  <a:srgbClr val="0F4662"/>
                </a:solidFill>
                <a:latin typeface="Quicksand"/>
                <a:ea typeface="Quicksand"/>
                <a:cs typeface="Quicksand"/>
                <a:sym typeface="Quicksand"/>
              </a:rPr>
              <a:t> Maintenance Management System</a:t>
            </a:r>
          </a:p>
        </p:txBody>
      </p:sp>
      <p:sp>
        <p:nvSpPr>
          <p:cNvPr name="TextBox 7" id="7"/>
          <p:cNvSpPr txBox="true"/>
          <p:nvPr/>
        </p:nvSpPr>
        <p:spPr>
          <a:xfrm rot="0">
            <a:off x="3322179" y="1967581"/>
            <a:ext cx="11643643" cy="529811"/>
          </a:xfrm>
          <a:prstGeom prst="rect">
            <a:avLst/>
          </a:prstGeom>
        </p:spPr>
        <p:txBody>
          <a:bodyPr anchor="t" rtlCol="false" tIns="0" lIns="0" bIns="0" rIns="0">
            <a:spAutoFit/>
          </a:bodyPr>
          <a:lstStyle/>
          <a:p>
            <a:pPr algn="ctr" marL="0" indent="0" lvl="0">
              <a:lnSpc>
                <a:spcPts val="4397"/>
              </a:lnSpc>
              <a:spcBef>
                <a:spcPct val="0"/>
              </a:spcBef>
            </a:pPr>
            <a:r>
              <a:rPr lang="en-US" sz="3141">
                <a:solidFill>
                  <a:srgbClr val="0F4662"/>
                </a:solidFill>
                <a:latin typeface="Quicksand"/>
                <a:ea typeface="Quicksand"/>
                <a:cs typeface="Quicksand"/>
                <a:sym typeface="Quicksand"/>
              </a:rPr>
              <a:t>Capstone Project Sprint 2 </a:t>
            </a:r>
          </a:p>
        </p:txBody>
      </p:sp>
      <p:sp>
        <p:nvSpPr>
          <p:cNvPr name="Freeform 8" id="8"/>
          <p:cNvSpPr/>
          <p:nvPr/>
        </p:nvSpPr>
        <p:spPr>
          <a:xfrm flipH="false" flipV="false" rot="0">
            <a:off x="5646742" y="807892"/>
            <a:ext cx="2968854" cy="441617"/>
          </a:xfrm>
          <a:custGeom>
            <a:avLst/>
            <a:gdLst/>
            <a:ahLst/>
            <a:cxnLst/>
            <a:rect r="r" b="b" t="t" l="l"/>
            <a:pathLst>
              <a:path h="441617" w="2968854">
                <a:moveTo>
                  <a:pt x="0" y="0"/>
                </a:moveTo>
                <a:lnTo>
                  <a:pt x="2968854" y="0"/>
                </a:lnTo>
                <a:lnTo>
                  <a:pt x="2968854" y="441616"/>
                </a:lnTo>
                <a:lnTo>
                  <a:pt x="0" y="44161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5041297" y="-6003485"/>
            <a:ext cx="9680488" cy="10372404"/>
            <a:chOff x="0" y="0"/>
            <a:chExt cx="812800" cy="870895"/>
          </a:xfrm>
        </p:grpSpPr>
        <p:sp>
          <p:nvSpPr>
            <p:cNvPr name="Freeform 3" id="3"/>
            <p:cNvSpPr/>
            <p:nvPr/>
          </p:nvSpPr>
          <p:spPr>
            <a:xfrm flipH="false" flipV="false" rot="0">
              <a:off x="0" y="0"/>
              <a:ext cx="812800" cy="870895"/>
            </a:xfrm>
            <a:custGeom>
              <a:avLst/>
              <a:gdLst/>
              <a:ahLst/>
              <a:cxnLst/>
              <a:rect r="r" b="b" t="t" l="l"/>
              <a:pathLst>
                <a:path h="870895" w="812800">
                  <a:moveTo>
                    <a:pt x="406400" y="0"/>
                  </a:moveTo>
                  <a:cubicBezTo>
                    <a:pt x="181951" y="0"/>
                    <a:pt x="0" y="194957"/>
                    <a:pt x="0" y="435448"/>
                  </a:cubicBezTo>
                  <a:cubicBezTo>
                    <a:pt x="0" y="675939"/>
                    <a:pt x="181951" y="870895"/>
                    <a:pt x="406400" y="870895"/>
                  </a:cubicBezTo>
                  <a:cubicBezTo>
                    <a:pt x="630849" y="870895"/>
                    <a:pt x="812800" y="675939"/>
                    <a:pt x="812800" y="435448"/>
                  </a:cubicBezTo>
                  <a:cubicBezTo>
                    <a:pt x="812800" y="194957"/>
                    <a:pt x="630849" y="0"/>
                    <a:pt x="406400" y="0"/>
                  </a:cubicBezTo>
                  <a:close/>
                </a:path>
              </a:pathLst>
            </a:custGeom>
            <a:solidFill>
              <a:srgbClr val="7994A0"/>
            </a:solidFill>
          </p:spPr>
        </p:sp>
        <p:sp>
          <p:nvSpPr>
            <p:cNvPr name="TextBox 4" id="4"/>
            <p:cNvSpPr txBox="true"/>
            <p:nvPr/>
          </p:nvSpPr>
          <p:spPr>
            <a:xfrm>
              <a:off x="76200" y="34021"/>
              <a:ext cx="660400" cy="755227"/>
            </a:xfrm>
            <a:prstGeom prst="rect">
              <a:avLst/>
            </a:prstGeom>
          </p:spPr>
          <p:txBody>
            <a:bodyPr anchor="ctr" rtlCol="false" tIns="50800" lIns="50800" bIns="50800" rIns="50800"/>
            <a:lstStyle/>
            <a:p>
              <a:pPr algn="ctr">
                <a:lnSpc>
                  <a:spcPts val="3693"/>
                </a:lnSpc>
              </a:pPr>
            </a:p>
          </p:txBody>
        </p:sp>
      </p:grpSp>
      <p:grpSp>
        <p:nvGrpSpPr>
          <p:cNvPr name="Group 5" id="5"/>
          <p:cNvGrpSpPr/>
          <p:nvPr/>
        </p:nvGrpSpPr>
        <p:grpSpPr>
          <a:xfrm rot="0">
            <a:off x="-5111614" y="7824960"/>
            <a:ext cx="9680488" cy="10372404"/>
            <a:chOff x="0" y="0"/>
            <a:chExt cx="812800" cy="870895"/>
          </a:xfrm>
        </p:grpSpPr>
        <p:sp>
          <p:nvSpPr>
            <p:cNvPr name="Freeform 6" id="6"/>
            <p:cNvSpPr/>
            <p:nvPr/>
          </p:nvSpPr>
          <p:spPr>
            <a:xfrm flipH="false" flipV="false" rot="0">
              <a:off x="0" y="0"/>
              <a:ext cx="812800" cy="870895"/>
            </a:xfrm>
            <a:custGeom>
              <a:avLst/>
              <a:gdLst/>
              <a:ahLst/>
              <a:cxnLst/>
              <a:rect r="r" b="b" t="t" l="l"/>
              <a:pathLst>
                <a:path h="870895" w="812800">
                  <a:moveTo>
                    <a:pt x="406400" y="0"/>
                  </a:moveTo>
                  <a:cubicBezTo>
                    <a:pt x="181951" y="0"/>
                    <a:pt x="0" y="194957"/>
                    <a:pt x="0" y="435448"/>
                  </a:cubicBezTo>
                  <a:cubicBezTo>
                    <a:pt x="0" y="675939"/>
                    <a:pt x="181951" y="870895"/>
                    <a:pt x="406400" y="870895"/>
                  </a:cubicBezTo>
                  <a:cubicBezTo>
                    <a:pt x="630849" y="870895"/>
                    <a:pt x="812800" y="675939"/>
                    <a:pt x="812800" y="435448"/>
                  </a:cubicBezTo>
                  <a:cubicBezTo>
                    <a:pt x="812800" y="194957"/>
                    <a:pt x="630849" y="0"/>
                    <a:pt x="406400" y="0"/>
                  </a:cubicBezTo>
                  <a:close/>
                </a:path>
              </a:pathLst>
            </a:custGeom>
            <a:solidFill>
              <a:srgbClr val="7994A0"/>
            </a:solidFill>
          </p:spPr>
        </p:sp>
        <p:sp>
          <p:nvSpPr>
            <p:cNvPr name="TextBox 7" id="7"/>
            <p:cNvSpPr txBox="true"/>
            <p:nvPr/>
          </p:nvSpPr>
          <p:spPr>
            <a:xfrm>
              <a:off x="76200" y="34021"/>
              <a:ext cx="660400" cy="755227"/>
            </a:xfrm>
            <a:prstGeom prst="rect">
              <a:avLst/>
            </a:prstGeom>
          </p:spPr>
          <p:txBody>
            <a:bodyPr anchor="ctr" rtlCol="false" tIns="50800" lIns="50800" bIns="50800" rIns="50800"/>
            <a:lstStyle/>
            <a:p>
              <a:pPr algn="ctr">
                <a:lnSpc>
                  <a:spcPts val="3693"/>
                </a:lnSpc>
              </a:pPr>
            </a:p>
          </p:txBody>
        </p:sp>
      </p:grpSp>
      <p:grpSp>
        <p:nvGrpSpPr>
          <p:cNvPr name="Group 8" id="8"/>
          <p:cNvGrpSpPr/>
          <p:nvPr/>
        </p:nvGrpSpPr>
        <p:grpSpPr>
          <a:xfrm rot="0">
            <a:off x="-669735" y="-2969477"/>
            <a:ext cx="18957735" cy="5420528"/>
            <a:chOff x="0" y="0"/>
            <a:chExt cx="1591743" cy="455122"/>
          </a:xfrm>
        </p:grpSpPr>
        <p:sp>
          <p:nvSpPr>
            <p:cNvPr name="Freeform 9" id="9"/>
            <p:cNvSpPr/>
            <p:nvPr/>
          </p:nvSpPr>
          <p:spPr>
            <a:xfrm flipH="false" flipV="false" rot="0">
              <a:off x="0" y="0"/>
              <a:ext cx="1591743" cy="455122"/>
            </a:xfrm>
            <a:custGeom>
              <a:avLst/>
              <a:gdLst/>
              <a:ahLst/>
              <a:cxnLst/>
              <a:rect r="r" b="b" t="t" l="l"/>
              <a:pathLst>
                <a:path h="455122" w="1591743">
                  <a:moveTo>
                    <a:pt x="0" y="0"/>
                  </a:moveTo>
                  <a:lnTo>
                    <a:pt x="1591743" y="0"/>
                  </a:lnTo>
                  <a:lnTo>
                    <a:pt x="1591743" y="455122"/>
                  </a:lnTo>
                  <a:lnTo>
                    <a:pt x="0" y="455122"/>
                  </a:lnTo>
                  <a:close/>
                </a:path>
              </a:pathLst>
            </a:custGeom>
            <a:solidFill>
              <a:srgbClr val="7994A0"/>
            </a:solidFill>
          </p:spPr>
        </p:sp>
        <p:sp>
          <p:nvSpPr>
            <p:cNvPr name="TextBox 10" id="10"/>
            <p:cNvSpPr txBox="true"/>
            <p:nvPr/>
          </p:nvSpPr>
          <p:spPr>
            <a:xfrm>
              <a:off x="0" y="-47625"/>
              <a:ext cx="1591743" cy="502747"/>
            </a:xfrm>
            <a:prstGeom prst="rect">
              <a:avLst/>
            </a:prstGeom>
          </p:spPr>
          <p:txBody>
            <a:bodyPr anchor="ctr" rtlCol="false" tIns="50800" lIns="50800" bIns="50800" rIns="50800"/>
            <a:lstStyle/>
            <a:p>
              <a:pPr algn="ctr">
                <a:lnSpc>
                  <a:spcPts val="3693"/>
                </a:lnSpc>
              </a:pPr>
            </a:p>
          </p:txBody>
        </p:sp>
      </p:grpSp>
      <p:sp>
        <p:nvSpPr>
          <p:cNvPr name="TextBox 11" id="11"/>
          <p:cNvSpPr txBox="true"/>
          <p:nvPr/>
        </p:nvSpPr>
        <p:spPr>
          <a:xfrm rot="0">
            <a:off x="1028700" y="542559"/>
            <a:ext cx="3540249" cy="1566544"/>
          </a:xfrm>
          <a:prstGeom prst="rect">
            <a:avLst/>
          </a:prstGeom>
        </p:spPr>
        <p:txBody>
          <a:bodyPr anchor="t" rtlCol="false" tIns="0" lIns="0" bIns="0" rIns="0">
            <a:spAutoFit/>
          </a:bodyPr>
          <a:lstStyle/>
          <a:p>
            <a:pPr algn="ctr">
              <a:lnSpc>
                <a:spcPts val="12880"/>
              </a:lnSpc>
            </a:pPr>
            <a:r>
              <a:rPr lang="en-US" sz="9200" b="true">
                <a:solidFill>
                  <a:srgbClr val="FFFFFF"/>
                </a:solidFill>
                <a:latin typeface="Cormorant Garamond Bold"/>
                <a:ea typeface="Cormorant Garamond Bold"/>
                <a:cs typeface="Cormorant Garamond Bold"/>
                <a:sym typeface="Cormorant Garamond Bold"/>
              </a:rPr>
              <a:t>Agenda</a:t>
            </a:r>
          </a:p>
        </p:txBody>
      </p:sp>
      <p:sp>
        <p:nvSpPr>
          <p:cNvPr name="TextBox 12" id="12"/>
          <p:cNvSpPr txBox="true"/>
          <p:nvPr/>
        </p:nvSpPr>
        <p:spPr>
          <a:xfrm rot="0">
            <a:off x="2798787" y="3119239"/>
            <a:ext cx="4115246" cy="712470"/>
          </a:xfrm>
          <a:prstGeom prst="rect">
            <a:avLst/>
          </a:prstGeom>
        </p:spPr>
        <p:txBody>
          <a:bodyPr anchor="t" rtlCol="false" tIns="0" lIns="0" bIns="0" rIns="0">
            <a:spAutoFit/>
          </a:bodyPr>
          <a:lstStyle/>
          <a:p>
            <a:pPr algn="ctr">
              <a:lnSpc>
                <a:spcPts val="5880"/>
              </a:lnSpc>
            </a:pPr>
            <a:r>
              <a:rPr lang="en-US" sz="4200" b="true">
                <a:solidFill>
                  <a:srgbClr val="000000"/>
                </a:solidFill>
                <a:latin typeface="Cormorant Garamond Bold"/>
                <a:ea typeface="Cormorant Garamond Bold"/>
                <a:cs typeface="Cormorant Garamond Bold"/>
                <a:sym typeface="Cormorant Garamond Bold"/>
              </a:rPr>
              <a:t>Project Description</a:t>
            </a:r>
          </a:p>
        </p:txBody>
      </p:sp>
      <p:sp>
        <p:nvSpPr>
          <p:cNvPr name="TextBox 13" id="13"/>
          <p:cNvSpPr txBox="true"/>
          <p:nvPr/>
        </p:nvSpPr>
        <p:spPr>
          <a:xfrm rot="0">
            <a:off x="2798787" y="3974584"/>
            <a:ext cx="7605266" cy="712470"/>
          </a:xfrm>
          <a:prstGeom prst="rect">
            <a:avLst/>
          </a:prstGeom>
        </p:spPr>
        <p:txBody>
          <a:bodyPr anchor="t" rtlCol="false" tIns="0" lIns="0" bIns="0" rIns="0">
            <a:spAutoFit/>
          </a:bodyPr>
          <a:lstStyle/>
          <a:p>
            <a:pPr algn="ctr">
              <a:lnSpc>
                <a:spcPts val="5880"/>
              </a:lnSpc>
            </a:pPr>
            <a:r>
              <a:rPr lang="en-US" sz="4200" b="true">
                <a:solidFill>
                  <a:srgbClr val="000000"/>
                </a:solidFill>
                <a:latin typeface="Cormorant Garamond Bold"/>
                <a:ea typeface="Cormorant Garamond Bold"/>
                <a:cs typeface="Cormorant Garamond Bold"/>
                <a:sym typeface="Cormorant Garamond Bold"/>
              </a:rPr>
              <a:t>Descriptive Minimal Viable Product</a:t>
            </a:r>
          </a:p>
        </p:txBody>
      </p:sp>
      <p:sp>
        <p:nvSpPr>
          <p:cNvPr name="TextBox 14" id="14"/>
          <p:cNvSpPr txBox="true"/>
          <p:nvPr/>
        </p:nvSpPr>
        <p:spPr>
          <a:xfrm rot="0">
            <a:off x="2798787" y="5685274"/>
            <a:ext cx="7638306" cy="712470"/>
          </a:xfrm>
          <a:prstGeom prst="rect">
            <a:avLst/>
          </a:prstGeom>
        </p:spPr>
        <p:txBody>
          <a:bodyPr anchor="t" rtlCol="false" tIns="0" lIns="0" bIns="0" rIns="0">
            <a:spAutoFit/>
          </a:bodyPr>
          <a:lstStyle/>
          <a:p>
            <a:pPr algn="ctr">
              <a:lnSpc>
                <a:spcPts val="5880"/>
              </a:lnSpc>
            </a:pPr>
            <a:r>
              <a:rPr lang="en-US" sz="4200" b="true">
                <a:solidFill>
                  <a:srgbClr val="000000"/>
                </a:solidFill>
                <a:latin typeface="Cormorant Garamond Bold"/>
                <a:ea typeface="Cormorant Garamond Bold"/>
                <a:cs typeface="Cormorant Garamond Bold"/>
                <a:sym typeface="Cormorant Garamond Bold"/>
              </a:rPr>
              <a:t>Acceptance Criteria &amp; User Strories</a:t>
            </a:r>
          </a:p>
        </p:txBody>
      </p:sp>
      <p:sp>
        <p:nvSpPr>
          <p:cNvPr name="TextBox 15" id="15"/>
          <p:cNvSpPr txBox="true"/>
          <p:nvPr/>
        </p:nvSpPr>
        <p:spPr>
          <a:xfrm rot="0">
            <a:off x="2798787" y="4829929"/>
            <a:ext cx="1996008" cy="712470"/>
          </a:xfrm>
          <a:prstGeom prst="rect">
            <a:avLst/>
          </a:prstGeom>
        </p:spPr>
        <p:txBody>
          <a:bodyPr anchor="t" rtlCol="false" tIns="0" lIns="0" bIns="0" rIns="0">
            <a:spAutoFit/>
          </a:bodyPr>
          <a:lstStyle/>
          <a:p>
            <a:pPr algn="ctr">
              <a:lnSpc>
                <a:spcPts val="5880"/>
              </a:lnSpc>
            </a:pPr>
            <a:r>
              <a:rPr lang="en-US" sz="4200" b="true">
                <a:solidFill>
                  <a:srgbClr val="000000"/>
                </a:solidFill>
                <a:latin typeface="Cormorant Garamond Bold"/>
                <a:ea typeface="Cormorant Garamond Bold"/>
                <a:cs typeface="Cormorant Garamond Bold"/>
                <a:sym typeface="Cormorant Garamond Bold"/>
              </a:rPr>
              <a:t>Diagrams</a:t>
            </a:r>
          </a:p>
        </p:txBody>
      </p:sp>
      <p:sp>
        <p:nvSpPr>
          <p:cNvPr name="TextBox 16" id="16"/>
          <p:cNvSpPr txBox="true"/>
          <p:nvPr/>
        </p:nvSpPr>
        <p:spPr>
          <a:xfrm rot="0">
            <a:off x="2798787" y="6540619"/>
            <a:ext cx="8051155" cy="712470"/>
          </a:xfrm>
          <a:prstGeom prst="rect">
            <a:avLst/>
          </a:prstGeom>
        </p:spPr>
        <p:txBody>
          <a:bodyPr anchor="t" rtlCol="false" tIns="0" lIns="0" bIns="0" rIns="0">
            <a:spAutoFit/>
          </a:bodyPr>
          <a:lstStyle/>
          <a:p>
            <a:pPr algn="ctr">
              <a:lnSpc>
                <a:spcPts val="5880"/>
              </a:lnSpc>
            </a:pPr>
            <a:r>
              <a:rPr lang="en-US" sz="4200" b="true">
                <a:solidFill>
                  <a:srgbClr val="000000"/>
                </a:solidFill>
                <a:latin typeface="Cormorant Garamond Bold"/>
                <a:ea typeface="Cormorant Garamond Bold"/>
                <a:cs typeface="Cormorant Garamond Bold"/>
                <a:sym typeface="Cormorant Garamond Bold"/>
              </a:rPr>
              <a:t>Sprint backlog and Test case summary</a:t>
            </a:r>
          </a:p>
        </p:txBody>
      </p:sp>
      <p:sp>
        <p:nvSpPr>
          <p:cNvPr name="TextBox 17" id="17"/>
          <p:cNvSpPr txBox="true"/>
          <p:nvPr/>
        </p:nvSpPr>
        <p:spPr>
          <a:xfrm rot="0">
            <a:off x="2798787" y="7395964"/>
            <a:ext cx="2893219" cy="712470"/>
          </a:xfrm>
          <a:prstGeom prst="rect">
            <a:avLst/>
          </a:prstGeom>
        </p:spPr>
        <p:txBody>
          <a:bodyPr anchor="t" rtlCol="false" tIns="0" lIns="0" bIns="0" rIns="0">
            <a:spAutoFit/>
          </a:bodyPr>
          <a:lstStyle/>
          <a:p>
            <a:pPr algn="ctr">
              <a:lnSpc>
                <a:spcPts val="5880"/>
              </a:lnSpc>
            </a:pPr>
            <a:r>
              <a:rPr lang="en-US" sz="4200" b="true">
                <a:solidFill>
                  <a:srgbClr val="000000"/>
                </a:solidFill>
                <a:latin typeface="Cormorant Garamond Bold"/>
                <a:ea typeface="Cormorant Garamond Bold"/>
                <a:cs typeface="Cormorant Garamond Bold"/>
                <a:sym typeface="Cormorant Garamond Bold"/>
              </a:rPr>
              <a:t>Team Metrics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4099486"/>
            <a:chOff x="0" y="0"/>
            <a:chExt cx="4816593" cy="1079700"/>
          </a:xfrm>
        </p:grpSpPr>
        <p:sp>
          <p:nvSpPr>
            <p:cNvPr name="Freeform 3" id="3"/>
            <p:cNvSpPr/>
            <p:nvPr/>
          </p:nvSpPr>
          <p:spPr>
            <a:xfrm flipH="false" flipV="false" rot="0">
              <a:off x="0" y="0"/>
              <a:ext cx="4816592" cy="1079700"/>
            </a:xfrm>
            <a:custGeom>
              <a:avLst/>
              <a:gdLst/>
              <a:ahLst/>
              <a:cxnLst/>
              <a:rect r="r" b="b" t="t" l="l"/>
              <a:pathLst>
                <a:path h="1079700" w="4816592">
                  <a:moveTo>
                    <a:pt x="0" y="0"/>
                  </a:moveTo>
                  <a:lnTo>
                    <a:pt x="4816592" y="0"/>
                  </a:lnTo>
                  <a:lnTo>
                    <a:pt x="4816592" y="1079700"/>
                  </a:lnTo>
                  <a:lnTo>
                    <a:pt x="0" y="1079700"/>
                  </a:lnTo>
                  <a:close/>
                </a:path>
              </a:pathLst>
            </a:custGeom>
            <a:solidFill>
              <a:srgbClr val="DBE5EA"/>
            </a:solidFill>
          </p:spPr>
        </p:sp>
        <p:sp>
          <p:nvSpPr>
            <p:cNvPr name="TextBox 4" id="4"/>
            <p:cNvSpPr txBox="true"/>
            <p:nvPr/>
          </p:nvSpPr>
          <p:spPr>
            <a:xfrm>
              <a:off x="0" y="-47625"/>
              <a:ext cx="4816593" cy="1127325"/>
            </a:xfrm>
            <a:prstGeom prst="rect">
              <a:avLst/>
            </a:prstGeom>
          </p:spPr>
          <p:txBody>
            <a:bodyPr anchor="ctr" rtlCol="false" tIns="50800" lIns="50800" bIns="50800" rIns="50800"/>
            <a:lstStyle/>
            <a:p>
              <a:pPr algn="ctr">
                <a:lnSpc>
                  <a:spcPts val="3693"/>
                </a:lnSpc>
              </a:pPr>
            </a:p>
          </p:txBody>
        </p:sp>
      </p:grpSp>
      <p:grpSp>
        <p:nvGrpSpPr>
          <p:cNvPr name="Group 5" id="5"/>
          <p:cNvGrpSpPr/>
          <p:nvPr/>
        </p:nvGrpSpPr>
        <p:grpSpPr>
          <a:xfrm rot="0">
            <a:off x="1770219" y="3476539"/>
            <a:ext cx="2506328" cy="2506328"/>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0" t="-18518" r="0" b="-18518"/>
              </a:stretch>
            </a:blipFill>
          </p:spPr>
        </p:sp>
      </p:grpSp>
      <p:grpSp>
        <p:nvGrpSpPr>
          <p:cNvPr name="Group 7" id="7"/>
          <p:cNvGrpSpPr/>
          <p:nvPr/>
        </p:nvGrpSpPr>
        <p:grpSpPr>
          <a:xfrm rot="0">
            <a:off x="6228165" y="3476539"/>
            <a:ext cx="2506328" cy="2506328"/>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0" t="-25046" r="0" b="-25046"/>
              </a:stretch>
            </a:blipFill>
          </p:spPr>
        </p:sp>
      </p:grpSp>
      <p:grpSp>
        <p:nvGrpSpPr>
          <p:cNvPr name="Group 9" id="9"/>
          <p:cNvGrpSpPr/>
          <p:nvPr/>
        </p:nvGrpSpPr>
        <p:grpSpPr>
          <a:xfrm rot="0">
            <a:off x="10686111" y="3476539"/>
            <a:ext cx="2506328" cy="2506328"/>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0" r="0" b="0"/>
              </a:stretch>
            </a:blipFill>
          </p:spPr>
        </p:sp>
      </p:grpSp>
      <p:sp>
        <p:nvSpPr>
          <p:cNvPr name="AutoShape 11" id="11"/>
          <p:cNvSpPr/>
          <p:nvPr/>
        </p:nvSpPr>
        <p:spPr>
          <a:xfrm>
            <a:off x="5897880" y="8681205"/>
            <a:ext cx="6492240" cy="0"/>
          </a:xfrm>
          <a:prstGeom prst="line">
            <a:avLst/>
          </a:prstGeom>
          <a:ln cap="flat" w="76200">
            <a:solidFill>
              <a:srgbClr val="0F4662"/>
            </a:solidFill>
            <a:prstDash val="solid"/>
            <a:headEnd type="none" len="sm" w="sm"/>
            <a:tailEnd type="none" len="sm" w="sm"/>
          </a:ln>
        </p:spPr>
      </p:sp>
      <p:sp>
        <p:nvSpPr>
          <p:cNvPr name="Freeform 12" id="12"/>
          <p:cNvSpPr/>
          <p:nvPr/>
        </p:nvSpPr>
        <p:spPr>
          <a:xfrm flipH="false" flipV="false" rot="0">
            <a:off x="8304001" y="9529723"/>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15038134" y="3476539"/>
            <a:ext cx="2507885" cy="2507885"/>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7"/>
              <a:stretch>
                <a:fillRect l="-12695" t="0" r="-12695" b="0"/>
              </a:stretch>
            </a:blipFill>
          </p:spPr>
        </p:sp>
      </p:grpSp>
      <p:sp>
        <p:nvSpPr>
          <p:cNvPr name="TextBox 15" id="15"/>
          <p:cNvSpPr txBox="true"/>
          <p:nvPr/>
        </p:nvSpPr>
        <p:spPr>
          <a:xfrm rot="0">
            <a:off x="1028700" y="599709"/>
            <a:ext cx="9914964"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Team Members</a:t>
            </a:r>
          </a:p>
        </p:txBody>
      </p:sp>
      <p:sp>
        <p:nvSpPr>
          <p:cNvPr name="TextBox 16" id="16"/>
          <p:cNvSpPr txBox="true"/>
          <p:nvPr/>
        </p:nvSpPr>
        <p:spPr>
          <a:xfrm rot="0">
            <a:off x="5486646" y="6351725"/>
            <a:ext cx="3989366" cy="384899"/>
          </a:xfrm>
          <a:prstGeom prst="rect">
            <a:avLst/>
          </a:prstGeom>
        </p:spPr>
        <p:txBody>
          <a:bodyPr anchor="t" rtlCol="false" tIns="0" lIns="0" bIns="0" rIns="0">
            <a:spAutoFit/>
          </a:bodyPr>
          <a:lstStyle/>
          <a:p>
            <a:pPr algn="ctr" marL="0" indent="0" lvl="0">
              <a:lnSpc>
                <a:spcPts val="3116"/>
              </a:lnSpc>
              <a:spcBef>
                <a:spcPct val="0"/>
              </a:spcBef>
            </a:pPr>
            <a:r>
              <a:rPr lang="en-US" b="true" sz="2226">
                <a:solidFill>
                  <a:srgbClr val="0F4662"/>
                </a:solidFill>
                <a:latin typeface="Quicksand Bold"/>
                <a:ea typeface="Quicksand Bold"/>
                <a:cs typeface="Quicksand Bold"/>
                <a:sym typeface="Quicksand Bold"/>
              </a:rPr>
              <a:t>Shriken Patel</a:t>
            </a:r>
          </a:p>
        </p:txBody>
      </p:sp>
      <p:sp>
        <p:nvSpPr>
          <p:cNvPr name="TextBox 17" id="17"/>
          <p:cNvSpPr txBox="true"/>
          <p:nvPr/>
        </p:nvSpPr>
        <p:spPr>
          <a:xfrm rot="0">
            <a:off x="9944592" y="6349427"/>
            <a:ext cx="3989366" cy="384899"/>
          </a:xfrm>
          <a:prstGeom prst="rect">
            <a:avLst/>
          </a:prstGeom>
        </p:spPr>
        <p:txBody>
          <a:bodyPr anchor="t" rtlCol="false" tIns="0" lIns="0" bIns="0" rIns="0">
            <a:spAutoFit/>
          </a:bodyPr>
          <a:lstStyle/>
          <a:p>
            <a:pPr algn="ctr" marL="0" indent="0" lvl="0">
              <a:lnSpc>
                <a:spcPts val="3116"/>
              </a:lnSpc>
              <a:spcBef>
                <a:spcPct val="0"/>
              </a:spcBef>
            </a:pPr>
            <a:r>
              <a:rPr lang="en-US" b="true" sz="2226">
                <a:solidFill>
                  <a:srgbClr val="0F4662"/>
                </a:solidFill>
                <a:latin typeface="Quicksand Bold"/>
                <a:ea typeface="Quicksand Bold"/>
                <a:cs typeface="Quicksand Bold"/>
                <a:sym typeface="Quicksand Bold"/>
              </a:rPr>
              <a:t>Harshil Goti</a:t>
            </a:r>
          </a:p>
        </p:txBody>
      </p:sp>
      <p:sp>
        <p:nvSpPr>
          <p:cNvPr name="TextBox 18" id="18"/>
          <p:cNvSpPr txBox="true"/>
          <p:nvPr/>
        </p:nvSpPr>
        <p:spPr>
          <a:xfrm rot="0">
            <a:off x="1028700" y="6351725"/>
            <a:ext cx="3989366" cy="384899"/>
          </a:xfrm>
          <a:prstGeom prst="rect">
            <a:avLst/>
          </a:prstGeom>
        </p:spPr>
        <p:txBody>
          <a:bodyPr anchor="t" rtlCol="false" tIns="0" lIns="0" bIns="0" rIns="0">
            <a:spAutoFit/>
          </a:bodyPr>
          <a:lstStyle/>
          <a:p>
            <a:pPr algn="ctr" marL="0" indent="0" lvl="0">
              <a:lnSpc>
                <a:spcPts val="3116"/>
              </a:lnSpc>
              <a:spcBef>
                <a:spcPct val="0"/>
              </a:spcBef>
            </a:pPr>
            <a:r>
              <a:rPr lang="en-US" b="true" sz="2226">
                <a:solidFill>
                  <a:srgbClr val="0F4662"/>
                </a:solidFill>
                <a:latin typeface="Quicksand Bold"/>
                <a:ea typeface="Quicksand Bold"/>
                <a:cs typeface="Quicksand Bold"/>
                <a:sym typeface="Quicksand Bold"/>
              </a:rPr>
              <a:t>Viraj Chokshi</a:t>
            </a:r>
          </a:p>
        </p:txBody>
      </p:sp>
      <p:sp>
        <p:nvSpPr>
          <p:cNvPr name="TextBox 19" id="19"/>
          <p:cNvSpPr txBox="true"/>
          <p:nvPr/>
        </p:nvSpPr>
        <p:spPr>
          <a:xfrm rot="0">
            <a:off x="1028700" y="6852636"/>
            <a:ext cx="3989366" cy="323005"/>
          </a:xfrm>
          <a:prstGeom prst="rect">
            <a:avLst/>
          </a:prstGeom>
        </p:spPr>
        <p:txBody>
          <a:bodyPr anchor="t" rtlCol="false" tIns="0" lIns="0" bIns="0" rIns="0">
            <a:spAutoFit/>
          </a:bodyPr>
          <a:lstStyle/>
          <a:p>
            <a:pPr algn="ctr" marL="0" indent="0" lvl="0">
              <a:lnSpc>
                <a:spcPts val="2671"/>
              </a:lnSpc>
              <a:spcBef>
                <a:spcPct val="0"/>
              </a:spcBef>
            </a:pPr>
            <a:r>
              <a:rPr lang="en-US" b="true" sz="1908">
                <a:solidFill>
                  <a:srgbClr val="0F4662"/>
                </a:solidFill>
                <a:latin typeface="Cormorant Garamond Bold"/>
                <a:ea typeface="Cormorant Garamond Bold"/>
                <a:cs typeface="Cormorant Garamond Bold"/>
                <a:sym typeface="Cormorant Garamond Bold"/>
              </a:rPr>
              <a:t>Developer and DBA</a:t>
            </a:r>
          </a:p>
        </p:txBody>
      </p:sp>
      <p:sp>
        <p:nvSpPr>
          <p:cNvPr name="TextBox 20" id="20"/>
          <p:cNvSpPr txBox="true"/>
          <p:nvPr/>
        </p:nvSpPr>
        <p:spPr>
          <a:xfrm rot="0">
            <a:off x="14296154" y="6351243"/>
            <a:ext cx="3991846" cy="385108"/>
          </a:xfrm>
          <a:prstGeom prst="rect">
            <a:avLst/>
          </a:prstGeom>
        </p:spPr>
        <p:txBody>
          <a:bodyPr anchor="t" rtlCol="false" tIns="0" lIns="0" bIns="0" rIns="0">
            <a:spAutoFit/>
          </a:bodyPr>
          <a:lstStyle/>
          <a:p>
            <a:pPr algn="ctr" marL="0" indent="0" lvl="0">
              <a:lnSpc>
                <a:spcPts val="3118"/>
              </a:lnSpc>
              <a:spcBef>
                <a:spcPct val="0"/>
              </a:spcBef>
            </a:pPr>
            <a:r>
              <a:rPr lang="en-US" b="true" sz="2227">
                <a:solidFill>
                  <a:srgbClr val="0F4662"/>
                </a:solidFill>
                <a:latin typeface="Quicksand Bold"/>
                <a:ea typeface="Quicksand Bold"/>
                <a:cs typeface="Quicksand Bold"/>
                <a:sym typeface="Quicksand Bold"/>
              </a:rPr>
              <a:t>Krish Jasani</a:t>
            </a:r>
          </a:p>
        </p:txBody>
      </p:sp>
      <p:sp>
        <p:nvSpPr>
          <p:cNvPr name="TextBox 21" id="21"/>
          <p:cNvSpPr txBox="true"/>
          <p:nvPr/>
        </p:nvSpPr>
        <p:spPr>
          <a:xfrm rot="0">
            <a:off x="5486646" y="6852636"/>
            <a:ext cx="3989366" cy="323005"/>
          </a:xfrm>
          <a:prstGeom prst="rect">
            <a:avLst/>
          </a:prstGeom>
        </p:spPr>
        <p:txBody>
          <a:bodyPr anchor="t" rtlCol="false" tIns="0" lIns="0" bIns="0" rIns="0">
            <a:spAutoFit/>
          </a:bodyPr>
          <a:lstStyle/>
          <a:p>
            <a:pPr algn="ctr" marL="0" indent="0" lvl="0">
              <a:lnSpc>
                <a:spcPts val="2671"/>
              </a:lnSpc>
              <a:spcBef>
                <a:spcPct val="0"/>
              </a:spcBef>
            </a:pPr>
            <a:r>
              <a:rPr lang="en-US" b="true" sz="1908">
                <a:solidFill>
                  <a:srgbClr val="0F4662"/>
                </a:solidFill>
                <a:latin typeface="Cormorant Garamond Bold"/>
                <a:ea typeface="Cormorant Garamond Bold"/>
                <a:cs typeface="Cormorant Garamond Bold"/>
                <a:sym typeface="Cormorant Garamond Bold"/>
              </a:rPr>
              <a:t>Developer</a:t>
            </a:r>
          </a:p>
        </p:txBody>
      </p:sp>
      <p:sp>
        <p:nvSpPr>
          <p:cNvPr name="TextBox 22" id="22"/>
          <p:cNvSpPr txBox="true"/>
          <p:nvPr/>
        </p:nvSpPr>
        <p:spPr>
          <a:xfrm rot="0">
            <a:off x="9944592" y="6852636"/>
            <a:ext cx="3989366" cy="323005"/>
          </a:xfrm>
          <a:prstGeom prst="rect">
            <a:avLst/>
          </a:prstGeom>
        </p:spPr>
        <p:txBody>
          <a:bodyPr anchor="t" rtlCol="false" tIns="0" lIns="0" bIns="0" rIns="0">
            <a:spAutoFit/>
          </a:bodyPr>
          <a:lstStyle/>
          <a:p>
            <a:pPr algn="ctr" marL="0" indent="0" lvl="0">
              <a:lnSpc>
                <a:spcPts val="2671"/>
              </a:lnSpc>
              <a:spcBef>
                <a:spcPct val="0"/>
              </a:spcBef>
            </a:pPr>
            <a:r>
              <a:rPr lang="en-US" b="true" sz="1908">
                <a:solidFill>
                  <a:srgbClr val="0F4662"/>
                </a:solidFill>
                <a:latin typeface="Cormorant Garamond Bold"/>
                <a:ea typeface="Cormorant Garamond Bold"/>
                <a:cs typeface="Cormorant Garamond Bold"/>
                <a:sym typeface="Cormorant Garamond Bold"/>
              </a:rPr>
              <a:t>Developer</a:t>
            </a:r>
          </a:p>
        </p:txBody>
      </p:sp>
      <p:sp>
        <p:nvSpPr>
          <p:cNvPr name="TextBox 23" id="23"/>
          <p:cNvSpPr txBox="true"/>
          <p:nvPr/>
        </p:nvSpPr>
        <p:spPr>
          <a:xfrm rot="0">
            <a:off x="14400683" y="6852636"/>
            <a:ext cx="3989366" cy="323005"/>
          </a:xfrm>
          <a:prstGeom prst="rect">
            <a:avLst/>
          </a:prstGeom>
        </p:spPr>
        <p:txBody>
          <a:bodyPr anchor="t" rtlCol="false" tIns="0" lIns="0" bIns="0" rIns="0">
            <a:spAutoFit/>
          </a:bodyPr>
          <a:lstStyle/>
          <a:p>
            <a:pPr algn="ctr" marL="0" indent="0" lvl="0">
              <a:lnSpc>
                <a:spcPts val="2671"/>
              </a:lnSpc>
              <a:spcBef>
                <a:spcPct val="0"/>
              </a:spcBef>
            </a:pPr>
            <a:r>
              <a:rPr lang="en-US" b="true" sz="1908">
                <a:solidFill>
                  <a:srgbClr val="0F4662"/>
                </a:solidFill>
                <a:latin typeface="Cormorant Garamond Bold"/>
                <a:ea typeface="Cormorant Garamond Bold"/>
                <a:cs typeface="Cormorant Garamond Bold"/>
                <a:sym typeface="Cormorant Garamond Bold"/>
              </a:rPr>
              <a:t>Developer</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57742" y="15849"/>
            <a:ext cx="4967211" cy="10271151"/>
            <a:chOff x="0" y="0"/>
            <a:chExt cx="1308237" cy="2705159"/>
          </a:xfrm>
        </p:grpSpPr>
        <p:sp>
          <p:nvSpPr>
            <p:cNvPr name="Freeform 3" id="3"/>
            <p:cNvSpPr/>
            <p:nvPr/>
          </p:nvSpPr>
          <p:spPr>
            <a:xfrm flipH="false" flipV="false" rot="0">
              <a:off x="0" y="0"/>
              <a:ext cx="1308237" cy="2705159"/>
            </a:xfrm>
            <a:custGeom>
              <a:avLst/>
              <a:gdLst/>
              <a:ahLst/>
              <a:cxnLst/>
              <a:rect r="r" b="b" t="t" l="l"/>
              <a:pathLst>
                <a:path h="2705159" w="1308237">
                  <a:moveTo>
                    <a:pt x="0" y="0"/>
                  </a:moveTo>
                  <a:lnTo>
                    <a:pt x="1308237" y="0"/>
                  </a:lnTo>
                  <a:lnTo>
                    <a:pt x="1308237" y="2705159"/>
                  </a:lnTo>
                  <a:lnTo>
                    <a:pt x="0" y="2705159"/>
                  </a:lnTo>
                  <a:close/>
                </a:path>
              </a:pathLst>
            </a:custGeom>
            <a:solidFill>
              <a:srgbClr val="7994A0"/>
            </a:solidFill>
          </p:spPr>
        </p:sp>
        <p:sp>
          <p:nvSpPr>
            <p:cNvPr name="TextBox 4" id="4"/>
            <p:cNvSpPr txBox="true"/>
            <p:nvPr/>
          </p:nvSpPr>
          <p:spPr>
            <a:xfrm>
              <a:off x="0" y="-47625"/>
              <a:ext cx="1308237" cy="2752784"/>
            </a:xfrm>
            <a:prstGeom prst="rect">
              <a:avLst/>
            </a:prstGeom>
          </p:spPr>
          <p:txBody>
            <a:bodyPr anchor="ctr" rtlCol="false" tIns="50800" lIns="50800" bIns="50800" rIns="50800"/>
            <a:lstStyle/>
            <a:p>
              <a:pPr algn="ctr">
                <a:lnSpc>
                  <a:spcPts val="3693"/>
                </a:lnSpc>
              </a:pPr>
            </a:p>
          </p:txBody>
        </p:sp>
      </p:grpSp>
      <p:sp>
        <p:nvSpPr>
          <p:cNvPr name="TextBox 5" id="5"/>
          <p:cNvSpPr txBox="true"/>
          <p:nvPr/>
        </p:nvSpPr>
        <p:spPr>
          <a:xfrm rot="0">
            <a:off x="3867245" y="365750"/>
            <a:ext cx="13710819" cy="1003622"/>
          </a:xfrm>
          <a:prstGeom prst="rect">
            <a:avLst/>
          </a:prstGeom>
        </p:spPr>
        <p:txBody>
          <a:bodyPr anchor="t" rtlCol="false" tIns="0" lIns="0" bIns="0" rIns="0">
            <a:spAutoFit/>
          </a:bodyPr>
          <a:lstStyle/>
          <a:p>
            <a:pPr algn="ctr">
              <a:lnSpc>
                <a:spcPts val="8207"/>
              </a:lnSpc>
              <a:spcBef>
                <a:spcPct val="0"/>
              </a:spcBef>
            </a:pPr>
            <a:r>
              <a:rPr lang="en-US" b="true" sz="5862">
                <a:solidFill>
                  <a:srgbClr val="0F4662"/>
                </a:solidFill>
                <a:latin typeface="Cormorant Garamond Bold"/>
                <a:ea typeface="Cormorant Garamond Bold"/>
                <a:cs typeface="Cormorant Garamond Bold"/>
                <a:sym typeface="Cormorant Garamond Bold"/>
              </a:rPr>
              <a:t>Improvements made from professor’s feedback</a:t>
            </a:r>
          </a:p>
        </p:txBody>
      </p:sp>
      <p:grpSp>
        <p:nvGrpSpPr>
          <p:cNvPr name="Group 6" id="6"/>
          <p:cNvGrpSpPr/>
          <p:nvPr/>
        </p:nvGrpSpPr>
        <p:grpSpPr>
          <a:xfrm rot="0">
            <a:off x="3867245" y="3533889"/>
            <a:ext cx="13868596" cy="1379220"/>
            <a:chOff x="0" y="0"/>
            <a:chExt cx="18491461" cy="1838960"/>
          </a:xfrm>
        </p:grpSpPr>
        <p:grpSp>
          <p:nvGrpSpPr>
            <p:cNvPr name="Group 7" id="7"/>
            <p:cNvGrpSpPr/>
            <p:nvPr/>
          </p:nvGrpSpPr>
          <p:grpSpPr>
            <a:xfrm rot="0">
              <a:off x="0" y="601825"/>
              <a:ext cx="1085709" cy="635310"/>
              <a:chOff x="0" y="0"/>
              <a:chExt cx="694515" cy="406400"/>
            </a:xfrm>
          </p:grpSpPr>
          <p:sp>
            <p:nvSpPr>
              <p:cNvPr name="Freeform 8" id="8"/>
              <p:cNvSpPr/>
              <p:nvPr/>
            </p:nvSpPr>
            <p:spPr>
              <a:xfrm flipH="false" flipV="false" rot="0">
                <a:off x="0" y="0"/>
                <a:ext cx="694515" cy="406400"/>
              </a:xfrm>
              <a:custGeom>
                <a:avLst/>
                <a:gdLst/>
                <a:ahLst/>
                <a:cxnLst/>
                <a:rect r="r" b="b" t="t" l="l"/>
                <a:pathLst>
                  <a:path h="406400" w="694515">
                    <a:moveTo>
                      <a:pt x="0" y="0"/>
                    </a:moveTo>
                    <a:lnTo>
                      <a:pt x="491315" y="0"/>
                    </a:lnTo>
                    <a:lnTo>
                      <a:pt x="694515" y="203200"/>
                    </a:lnTo>
                    <a:lnTo>
                      <a:pt x="491315" y="406400"/>
                    </a:lnTo>
                    <a:lnTo>
                      <a:pt x="0" y="406400"/>
                    </a:lnTo>
                    <a:lnTo>
                      <a:pt x="203200" y="203200"/>
                    </a:lnTo>
                    <a:lnTo>
                      <a:pt x="0" y="0"/>
                    </a:lnTo>
                    <a:close/>
                  </a:path>
                </a:pathLst>
              </a:custGeom>
              <a:solidFill>
                <a:srgbClr val="7994A0"/>
              </a:solidFill>
            </p:spPr>
          </p:sp>
          <p:sp>
            <p:nvSpPr>
              <p:cNvPr name="TextBox 9" id="9"/>
              <p:cNvSpPr txBox="true"/>
              <p:nvPr/>
            </p:nvSpPr>
            <p:spPr>
              <a:xfrm>
                <a:off x="177800" y="-47625"/>
                <a:ext cx="440515" cy="454025"/>
              </a:xfrm>
              <a:prstGeom prst="rect">
                <a:avLst/>
              </a:prstGeom>
            </p:spPr>
            <p:txBody>
              <a:bodyPr anchor="ctr" rtlCol="false" tIns="50800" lIns="50800" bIns="50800" rIns="50800"/>
              <a:lstStyle/>
              <a:p>
                <a:pPr algn="ctr">
                  <a:lnSpc>
                    <a:spcPts val="3116"/>
                  </a:lnSpc>
                </a:pPr>
              </a:p>
            </p:txBody>
          </p:sp>
        </p:grpSp>
        <p:sp>
          <p:nvSpPr>
            <p:cNvPr name="TextBox 10" id="10"/>
            <p:cNvSpPr txBox="true"/>
            <p:nvPr/>
          </p:nvSpPr>
          <p:spPr>
            <a:xfrm rot="0">
              <a:off x="1421726" y="-76200"/>
              <a:ext cx="17069734" cy="1915160"/>
            </a:xfrm>
            <a:prstGeom prst="rect">
              <a:avLst/>
            </a:prstGeom>
          </p:spPr>
          <p:txBody>
            <a:bodyPr anchor="t" rtlCol="false" tIns="0" lIns="0" bIns="0" rIns="0">
              <a:spAutoFit/>
            </a:bodyPr>
            <a:lstStyle/>
            <a:p>
              <a:pPr algn="l">
                <a:lnSpc>
                  <a:spcPts val="5880"/>
                </a:lnSpc>
              </a:pPr>
              <a:r>
                <a:rPr lang="en-US" sz="4200" b="true">
                  <a:solidFill>
                    <a:srgbClr val="0F4662"/>
                  </a:solidFill>
                  <a:latin typeface="Cormorant Garamond Bold"/>
                  <a:ea typeface="Cormorant Garamond Bold"/>
                  <a:cs typeface="Cormorant Garamond Bold"/>
                  <a:sym typeface="Cormorant Garamond Bold"/>
                </a:rPr>
                <a:t>U</a:t>
              </a:r>
              <a:r>
                <a:rPr lang="en-US" sz="4200" b="true">
                  <a:solidFill>
                    <a:srgbClr val="0F4662"/>
                  </a:solidFill>
                  <a:latin typeface="Cormorant Garamond Bold"/>
                  <a:ea typeface="Cormorant Garamond Bold"/>
                  <a:cs typeface="Cormorant Garamond Bold"/>
                  <a:sym typeface="Cormorant Garamond Bold"/>
                </a:rPr>
                <a:t>ser Stories &amp; acceptance criteria: Improved from the previous presentation, according to the template provided.</a:t>
              </a:r>
            </a:p>
          </p:txBody>
        </p:sp>
      </p:grpSp>
      <p:grpSp>
        <p:nvGrpSpPr>
          <p:cNvPr name="Group 11" id="11"/>
          <p:cNvGrpSpPr/>
          <p:nvPr/>
        </p:nvGrpSpPr>
        <p:grpSpPr>
          <a:xfrm rot="0">
            <a:off x="3867245" y="5761253"/>
            <a:ext cx="13868596" cy="1379220"/>
            <a:chOff x="0" y="0"/>
            <a:chExt cx="18491461" cy="1838960"/>
          </a:xfrm>
        </p:grpSpPr>
        <p:sp>
          <p:nvSpPr>
            <p:cNvPr name="TextBox 12" id="12"/>
            <p:cNvSpPr txBox="true"/>
            <p:nvPr/>
          </p:nvSpPr>
          <p:spPr>
            <a:xfrm rot="0">
              <a:off x="1421726" y="-76200"/>
              <a:ext cx="17069734" cy="1915160"/>
            </a:xfrm>
            <a:prstGeom prst="rect">
              <a:avLst/>
            </a:prstGeom>
          </p:spPr>
          <p:txBody>
            <a:bodyPr anchor="t" rtlCol="false" tIns="0" lIns="0" bIns="0" rIns="0">
              <a:spAutoFit/>
            </a:bodyPr>
            <a:lstStyle/>
            <a:p>
              <a:pPr algn="l">
                <a:lnSpc>
                  <a:spcPts val="5880"/>
                </a:lnSpc>
              </a:pPr>
              <a:r>
                <a:rPr lang="en-US" sz="4200" b="true">
                  <a:solidFill>
                    <a:srgbClr val="0F4662"/>
                  </a:solidFill>
                  <a:latin typeface="Cormorant Garamond Bold"/>
                  <a:ea typeface="Cormorant Garamond Bold"/>
                  <a:cs typeface="Cormorant Garamond Bold"/>
                  <a:sym typeface="Cormorant Garamond Bold"/>
                </a:rPr>
                <a:t>Sli</a:t>
              </a:r>
              <a:r>
                <a:rPr lang="en-US" sz="4200" b="true">
                  <a:solidFill>
                    <a:srgbClr val="0F4662"/>
                  </a:solidFill>
                  <a:latin typeface="Cormorant Garamond Bold"/>
                  <a:ea typeface="Cormorant Garamond Bold"/>
                  <a:cs typeface="Cormorant Garamond Bold"/>
                  <a:sym typeface="Cormorant Garamond Bold"/>
                </a:rPr>
                <a:t>des Sequence: The slides are following the checklist sequence unlike the previous presentation.</a:t>
              </a:r>
            </a:p>
          </p:txBody>
        </p:sp>
        <p:grpSp>
          <p:nvGrpSpPr>
            <p:cNvPr name="Group 13" id="13"/>
            <p:cNvGrpSpPr/>
            <p:nvPr/>
          </p:nvGrpSpPr>
          <p:grpSpPr>
            <a:xfrm rot="0">
              <a:off x="0" y="826192"/>
              <a:ext cx="1085709" cy="635310"/>
              <a:chOff x="0" y="0"/>
              <a:chExt cx="694515" cy="406400"/>
            </a:xfrm>
          </p:grpSpPr>
          <p:sp>
            <p:nvSpPr>
              <p:cNvPr name="Freeform 14" id="14"/>
              <p:cNvSpPr/>
              <p:nvPr/>
            </p:nvSpPr>
            <p:spPr>
              <a:xfrm flipH="false" flipV="false" rot="0">
                <a:off x="0" y="0"/>
                <a:ext cx="694515" cy="406400"/>
              </a:xfrm>
              <a:custGeom>
                <a:avLst/>
                <a:gdLst/>
                <a:ahLst/>
                <a:cxnLst/>
                <a:rect r="r" b="b" t="t" l="l"/>
                <a:pathLst>
                  <a:path h="406400" w="694515">
                    <a:moveTo>
                      <a:pt x="0" y="0"/>
                    </a:moveTo>
                    <a:lnTo>
                      <a:pt x="491315" y="0"/>
                    </a:lnTo>
                    <a:lnTo>
                      <a:pt x="694515" y="203200"/>
                    </a:lnTo>
                    <a:lnTo>
                      <a:pt x="491315" y="406400"/>
                    </a:lnTo>
                    <a:lnTo>
                      <a:pt x="0" y="406400"/>
                    </a:lnTo>
                    <a:lnTo>
                      <a:pt x="203200" y="203200"/>
                    </a:lnTo>
                    <a:lnTo>
                      <a:pt x="0" y="0"/>
                    </a:lnTo>
                    <a:close/>
                  </a:path>
                </a:pathLst>
              </a:custGeom>
              <a:solidFill>
                <a:srgbClr val="7994A0"/>
              </a:solidFill>
            </p:spPr>
          </p:sp>
          <p:sp>
            <p:nvSpPr>
              <p:cNvPr name="TextBox 15" id="15"/>
              <p:cNvSpPr txBox="true"/>
              <p:nvPr/>
            </p:nvSpPr>
            <p:spPr>
              <a:xfrm>
                <a:off x="177800" y="-47625"/>
                <a:ext cx="440515" cy="454025"/>
              </a:xfrm>
              <a:prstGeom prst="rect">
                <a:avLst/>
              </a:prstGeom>
            </p:spPr>
            <p:txBody>
              <a:bodyPr anchor="ctr" rtlCol="false" tIns="50800" lIns="50800" bIns="50800" rIns="50800"/>
              <a:lstStyle/>
              <a:p>
                <a:pPr algn="ctr">
                  <a:lnSpc>
                    <a:spcPts val="3116"/>
                  </a:lnSpc>
                </a:pPr>
              </a:p>
            </p:txBody>
          </p:sp>
        </p:gr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990577" y="3475503"/>
            <a:ext cx="14760747" cy="4933196"/>
          </a:xfrm>
          <a:prstGeom prst="rect">
            <a:avLst/>
          </a:prstGeom>
        </p:spPr>
        <p:txBody>
          <a:bodyPr anchor="t" rtlCol="false" tIns="0" lIns="0" bIns="0" rIns="0">
            <a:spAutoFit/>
          </a:bodyPr>
          <a:lstStyle/>
          <a:p>
            <a:pPr algn="l" marL="0" indent="0" lvl="0">
              <a:lnSpc>
                <a:spcPts val="4355"/>
              </a:lnSpc>
            </a:pPr>
            <a:r>
              <a:rPr lang="en-US" sz="2561">
                <a:solidFill>
                  <a:srgbClr val="0F4662"/>
                </a:solidFill>
                <a:latin typeface="Quicksand"/>
                <a:ea typeface="Quicksand"/>
                <a:cs typeface="Quicksand"/>
                <a:sym typeface="Quicksand"/>
              </a:rPr>
              <a:t>FixFlow is a mobile-first maintenance management ecosystem designed to eliminate the inefficiencies of traditional facility reporting through a photo-centric, "smart triage" approach. By mandating visual evidence during the submission process and utilizing a backend priority engine, the platform automatically categorizes and ranks work orders based on severity, ensuring that critical issues like leaks or electrical hazards are addressed immediately. The system bridges the gap between residents and management by providing tenants with live status tracking and administrators with a data-rich dashboard, backed by a robust audit log that ensures 100% transparency and accountability for every repair.</a:t>
            </a:r>
          </a:p>
          <a:p>
            <a:pPr algn="l" marL="0" indent="0" lvl="0">
              <a:lnSpc>
                <a:spcPts val="4355"/>
              </a:lnSpc>
            </a:pPr>
          </a:p>
        </p:txBody>
      </p:sp>
      <p:sp>
        <p:nvSpPr>
          <p:cNvPr name="AutoShape 3" id="3"/>
          <p:cNvSpPr/>
          <p:nvPr/>
        </p:nvSpPr>
        <p:spPr>
          <a:xfrm>
            <a:off x="5830743" y="3329739"/>
            <a:ext cx="6492240" cy="0"/>
          </a:xfrm>
          <a:prstGeom prst="line">
            <a:avLst/>
          </a:prstGeom>
          <a:ln cap="flat" w="76200">
            <a:solidFill>
              <a:srgbClr val="0F4662"/>
            </a:solidFill>
            <a:prstDash val="solid"/>
            <a:headEnd type="none" len="sm" w="sm"/>
            <a:tailEnd type="none" len="sm" w="sm"/>
          </a:ln>
        </p:spPr>
      </p:sp>
      <p:sp>
        <p:nvSpPr>
          <p:cNvPr name="AutoShape 4" id="4"/>
          <p:cNvSpPr/>
          <p:nvPr/>
        </p:nvSpPr>
        <p:spPr>
          <a:xfrm>
            <a:off x="5897880" y="8307527"/>
            <a:ext cx="6492240" cy="0"/>
          </a:xfrm>
          <a:prstGeom prst="line">
            <a:avLst/>
          </a:prstGeom>
          <a:ln cap="flat" w="76200">
            <a:solidFill>
              <a:srgbClr val="0F4662"/>
            </a:solidFill>
            <a:prstDash val="solid"/>
            <a:headEnd type="none" len="sm" w="sm"/>
            <a:tailEnd type="none" len="sm" w="sm"/>
          </a:ln>
        </p:spPr>
      </p:sp>
      <p:sp>
        <p:nvSpPr>
          <p:cNvPr name="Freeform 5" id="5"/>
          <p:cNvSpPr/>
          <p:nvPr/>
        </p:nvSpPr>
        <p:spPr>
          <a:xfrm flipH="false" flipV="false" rot="0">
            <a:off x="8304001" y="2470557"/>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599709"/>
            <a:ext cx="804816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Project Description </a:t>
            </a:r>
          </a:p>
        </p:txBody>
      </p:sp>
      <p:sp>
        <p:nvSpPr>
          <p:cNvPr name="Freeform 7" id="7"/>
          <p:cNvSpPr/>
          <p:nvPr/>
        </p:nvSpPr>
        <p:spPr>
          <a:xfrm flipH="false" flipV="false" rot="0">
            <a:off x="8304001" y="8917127"/>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4093893" y="15849"/>
            <a:ext cx="4194107" cy="10271151"/>
            <a:chOff x="0" y="0"/>
            <a:chExt cx="1104621" cy="2705159"/>
          </a:xfrm>
        </p:grpSpPr>
        <p:sp>
          <p:nvSpPr>
            <p:cNvPr name="Freeform 3" id="3"/>
            <p:cNvSpPr/>
            <p:nvPr/>
          </p:nvSpPr>
          <p:spPr>
            <a:xfrm flipH="false" flipV="false" rot="0">
              <a:off x="0" y="0"/>
              <a:ext cx="1104621" cy="2705159"/>
            </a:xfrm>
            <a:custGeom>
              <a:avLst/>
              <a:gdLst/>
              <a:ahLst/>
              <a:cxnLst/>
              <a:rect r="r" b="b" t="t" l="l"/>
              <a:pathLst>
                <a:path h="2705159" w="1104621">
                  <a:moveTo>
                    <a:pt x="0" y="0"/>
                  </a:moveTo>
                  <a:lnTo>
                    <a:pt x="1104621" y="0"/>
                  </a:lnTo>
                  <a:lnTo>
                    <a:pt x="1104621" y="2705159"/>
                  </a:lnTo>
                  <a:lnTo>
                    <a:pt x="0" y="2705159"/>
                  </a:lnTo>
                  <a:close/>
                </a:path>
              </a:pathLst>
            </a:custGeom>
            <a:solidFill>
              <a:srgbClr val="7994A0"/>
            </a:solidFill>
          </p:spPr>
        </p:sp>
        <p:sp>
          <p:nvSpPr>
            <p:cNvPr name="TextBox 4" id="4"/>
            <p:cNvSpPr txBox="true"/>
            <p:nvPr/>
          </p:nvSpPr>
          <p:spPr>
            <a:xfrm>
              <a:off x="0" y="-47625"/>
              <a:ext cx="1104621" cy="2752784"/>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1028700" y="8974931"/>
            <a:ext cx="1905000" cy="283369"/>
          </a:xfrm>
          <a:custGeom>
            <a:avLst/>
            <a:gdLst/>
            <a:ahLst/>
            <a:cxnLst/>
            <a:rect r="r" b="b" t="t" l="l"/>
            <a:pathLst>
              <a:path h="283369" w="1905000">
                <a:moveTo>
                  <a:pt x="0" y="0"/>
                </a:moveTo>
                <a:lnTo>
                  <a:pt x="1905000" y="0"/>
                </a:lnTo>
                <a:lnTo>
                  <a:pt x="1905000" y="283369"/>
                </a:lnTo>
                <a:lnTo>
                  <a:pt x="0" y="2833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621331" y="1965021"/>
            <a:ext cx="5188867" cy="6356958"/>
          </a:xfrm>
          <a:custGeom>
            <a:avLst/>
            <a:gdLst/>
            <a:ahLst/>
            <a:cxnLst/>
            <a:rect r="r" b="b" t="t" l="l"/>
            <a:pathLst>
              <a:path h="6356958" w="5188867">
                <a:moveTo>
                  <a:pt x="0" y="0"/>
                </a:moveTo>
                <a:lnTo>
                  <a:pt x="5188867" y="0"/>
                </a:lnTo>
                <a:lnTo>
                  <a:pt x="5188867" y="6356958"/>
                </a:lnTo>
                <a:lnTo>
                  <a:pt x="0" y="6356958"/>
                </a:lnTo>
                <a:lnTo>
                  <a:pt x="0" y="0"/>
                </a:lnTo>
                <a:close/>
              </a:path>
            </a:pathLst>
          </a:custGeom>
          <a:blipFill>
            <a:blip r:embed="rId4"/>
            <a:stretch>
              <a:fillRect l="0" t="0" r="0" b="0"/>
            </a:stretch>
          </a:blipFill>
        </p:spPr>
      </p:sp>
      <p:sp>
        <p:nvSpPr>
          <p:cNvPr name="Freeform 7" id="7"/>
          <p:cNvSpPr/>
          <p:nvPr/>
        </p:nvSpPr>
        <p:spPr>
          <a:xfrm flipH="false" flipV="false" rot="0">
            <a:off x="8020509" y="1965021"/>
            <a:ext cx="4863073" cy="6356958"/>
          </a:xfrm>
          <a:custGeom>
            <a:avLst/>
            <a:gdLst/>
            <a:ahLst/>
            <a:cxnLst/>
            <a:rect r="r" b="b" t="t" l="l"/>
            <a:pathLst>
              <a:path h="6356958" w="4863073">
                <a:moveTo>
                  <a:pt x="0" y="0"/>
                </a:moveTo>
                <a:lnTo>
                  <a:pt x="4863073" y="0"/>
                </a:lnTo>
                <a:lnTo>
                  <a:pt x="4863073" y="6356958"/>
                </a:lnTo>
                <a:lnTo>
                  <a:pt x="0" y="6356958"/>
                </a:lnTo>
                <a:lnTo>
                  <a:pt x="0" y="0"/>
                </a:lnTo>
                <a:close/>
              </a:path>
            </a:pathLst>
          </a:custGeom>
          <a:blipFill>
            <a:blip r:embed="rId5"/>
            <a:stretch>
              <a:fillRect l="0" t="0" r="0" b="0"/>
            </a:stretch>
          </a:blipFill>
        </p:spPr>
      </p:sp>
      <p:sp>
        <p:nvSpPr>
          <p:cNvPr name="TextBox 8" id="8"/>
          <p:cNvSpPr txBox="true"/>
          <p:nvPr/>
        </p:nvSpPr>
        <p:spPr>
          <a:xfrm rot="0">
            <a:off x="1028700" y="599709"/>
            <a:ext cx="93902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Team Working Agreement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7806726" y="4099272"/>
            <a:ext cx="3442653" cy="2676663"/>
          </a:xfrm>
          <a:custGeom>
            <a:avLst/>
            <a:gdLst/>
            <a:ahLst/>
            <a:cxnLst/>
            <a:rect r="r" b="b" t="t" l="l"/>
            <a:pathLst>
              <a:path h="2676663" w="3442653">
                <a:moveTo>
                  <a:pt x="0" y="0"/>
                </a:moveTo>
                <a:lnTo>
                  <a:pt x="3442652" y="0"/>
                </a:lnTo>
                <a:lnTo>
                  <a:pt x="3442652" y="2676663"/>
                </a:lnTo>
                <a:lnTo>
                  <a:pt x="0" y="2676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4384" y="599709"/>
            <a:ext cx="14072064"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Persona 1</a:t>
            </a:r>
          </a:p>
        </p:txBody>
      </p:sp>
      <p:sp>
        <p:nvSpPr>
          <p:cNvPr name="TextBox 4" id="4"/>
          <p:cNvSpPr txBox="true"/>
          <p:nvPr/>
        </p:nvSpPr>
        <p:spPr>
          <a:xfrm rot="0">
            <a:off x="214114" y="3179084"/>
            <a:ext cx="7306862" cy="2064627"/>
          </a:xfrm>
          <a:prstGeom prst="rect">
            <a:avLst/>
          </a:prstGeom>
        </p:spPr>
        <p:txBody>
          <a:bodyPr anchor="t" rtlCol="false" tIns="0" lIns="0" bIns="0" rIns="0">
            <a:spAutoFit/>
          </a:bodyPr>
          <a:lstStyle/>
          <a:p>
            <a:pPr algn="just" marL="0" indent="0" lvl="0">
              <a:lnSpc>
                <a:spcPts val="2817"/>
              </a:lnSpc>
              <a:spcBef>
                <a:spcPct val="0"/>
              </a:spcBef>
            </a:pPr>
            <a:r>
              <a:rPr lang="en-US" sz="2012">
                <a:solidFill>
                  <a:srgbClr val="0F4662"/>
                </a:solidFill>
                <a:latin typeface="Quicksand"/>
                <a:ea typeface="Quicksand"/>
                <a:cs typeface="Quicksand"/>
                <a:sym typeface="Quicksand"/>
              </a:rPr>
              <a:t>Marcus is a 20-year-old Junior at Pace University living in an on-campus residence hall. He is a full-time student with a heavy course load and a part-time job. He doesn't have time to wait on hold with campus security or visit the facilities office in person. He relies entirely on his smartphone to manage his life.</a:t>
            </a:r>
          </a:p>
        </p:txBody>
      </p:sp>
      <p:sp>
        <p:nvSpPr>
          <p:cNvPr name="TextBox 5" id="5"/>
          <p:cNvSpPr txBox="true"/>
          <p:nvPr/>
        </p:nvSpPr>
        <p:spPr>
          <a:xfrm rot="0">
            <a:off x="778478" y="2390034"/>
            <a:ext cx="5348229" cy="490855"/>
          </a:xfrm>
          <a:prstGeom prst="rect">
            <a:avLst/>
          </a:prstGeom>
        </p:spPr>
        <p:txBody>
          <a:bodyPr anchor="t" rtlCol="false" tIns="0" lIns="0" bIns="0" rIns="0">
            <a:spAutoFit/>
          </a:bodyPr>
          <a:lstStyle/>
          <a:p>
            <a:pPr algn="just" marL="0" indent="0" lvl="0">
              <a:lnSpc>
                <a:spcPts val="3919"/>
              </a:lnSpc>
              <a:spcBef>
                <a:spcPct val="0"/>
              </a:spcBef>
            </a:pPr>
            <a:r>
              <a:rPr lang="en-US" b="true" sz="2799">
                <a:solidFill>
                  <a:srgbClr val="0F4662"/>
                </a:solidFill>
                <a:latin typeface="Quicksand Bold"/>
                <a:ea typeface="Quicksand Bold"/>
                <a:cs typeface="Quicksand Bold"/>
                <a:sym typeface="Quicksand Bold"/>
              </a:rPr>
              <a:t>Profile</a:t>
            </a:r>
          </a:p>
        </p:txBody>
      </p:sp>
      <p:sp>
        <p:nvSpPr>
          <p:cNvPr name="TextBox 6" id="6"/>
          <p:cNvSpPr txBox="true"/>
          <p:nvPr/>
        </p:nvSpPr>
        <p:spPr>
          <a:xfrm rot="0">
            <a:off x="11535128" y="2575809"/>
            <a:ext cx="5348229" cy="5989955"/>
          </a:xfrm>
          <a:prstGeom prst="rect">
            <a:avLst/>
          </a:prstGeom>
        </p:spPr>
        <p:txBody>
          <a:bodyPr anchor="t" rtlCol="false" tIns="0" lIns="0" bIns="0" rIns="0">
            <a:spAutoFit/>
          </a:bodyPr>
          <a:lstStyle/>
          <a:p>
            <a:pPr algn="l">
              <a:lnSpc>
                <a:spcPts val="3220"/>
              </a:lnSpc>
            </a:pPr>
            <a:r>
              <a:rPr lang="en-US" sz="2300">
                <a:solidFill>
                  <a:srgbClr val="0F4662"/>
                </a:solidFill>
                <a:latin typeface="Quicksand"/>
                <a:ea typeface="Quicksand"/>
                <a:cs typeface="Quicksand"/>
                <a:sym typeface="Quicksand"/>
              </a:rPr>
              <a:t>Frustrations:</a:t>
            </a:r>
          </a:p>
          <a:p>
            <a:pPr algn="l">
              <a:lnSpc>
                <a:spcPts val="3220"/>
              </a:lnSpc>
            </a:pPr>
            <a:r>
              <a:rPr lang="en-US" sz="2300">
                <a:solidFill>
                  <a:srgbClr val="0F4662"/>
                </a:solidFill>
                <a:latin typeface="Quicksand"/>
                <a:ea typeface="Quicksand"/>
                <a:cs typeface="Quicksand"/>
                <a:sym typeface="Quicksand"/>
              </a:rPr>
              <a:t>•Not knowing if his maintenance request was actually received.</a:t>
            </a:r>
          </a:p>
          <a:p>
            <a:pPr algn="l">
              <a:lnSpc>
                <a:spcPts val="3220"/>
              </a:lnSpc>
            </a:pPr>
            <a:r>
              <a:rPr lang="en-US" sz="2300">
                <a:solidFill>
                  <a:srgbClr val="0F4662"/>
                </a:solidFill>
                <a:latin typeface="Quicksand"/>
                <a:ea typeface="Quicksand"/>
                <a:cs typeface="Quicksand"/>
                <a:sym typeface="Quicksand"/>
              </a:rPr>
              <a:t>•Maintenance staff showing up when he is in the middle of a remote exam.</a:t>
            </a:r>
          </a:p>
          <a:p>
            <a:pPr algn="l">
              <a:lnSpc>
                <a:spcPts val="3220"/>
              </a:lnSpc>
            </a:pPr>
            <a:r>
              <a:rPr lang="en-US" sz="2300">
                <a:solidFill>
                  <a:srgbClr val="0F4662"/>
                </a:solidFill>
                <a:latin typeface="Quicksand"/>
                <a:ea typeface="Quicksand"/>
                <a:cs typeface="Quicksand"/>
                <a:sym typeface="Quicksand"/>
              </a:rPr>
              <a:t>•Having to explain the same issue multiple times to different people.</a:t>
            </a:r>
          </a:p>
          <a:p>
            <a:pPr algn="l">
              <a:lnSpc>
                <a:spcPts val="3220"/>
              </a:lnSpc>
            </a:pPr>
            <a:r>
              <a:rPr lang="en-US" sz="2300">
                <a:solidFill>
                  <a:srgbClr val="0F4662"/>
                </a:solidFill>
                <a:latin typeface="Quicksand"/>
                <a:ea typeface="Quicksand"/>
                <a:cs typeface="Quicksand"/>
                <a:sym typeface="Quicksand"/>
              </a:rPr>
              <a:t>Goals:</a:t>
            </a:r>
          </a:p>
          <a:p>
            <a:pPr algn="l">
              <a:lnSpc>
                <a:spcPts val="3220"/>
              </a:lnSpc>
            </a:pPr>
            <a:r>
              <a:rPr lang="en-US" sz="2300">
                <a:solidFill>
                  <a:srgbClr val="0F4662"/>
                </a:solidFill>
                <a:latin typeface="Quicksand"/>
                <a:ea typeface="Quicksand"/>
                <a:cs typeface="Quicksand"/>
                <a:sym typeface="Quicksand"/>
              </a:rPr>
              <a:t>•Reporting a problem in under 30 seconds.</a:t>
            </a:r>
          </a:p>
          <a:p>
            <a:pPr algn="l">
              <a:lnSpc>
                <a:spcPts val="3220"/>
              </a:lnSpc>
            </a:pPr>
            <a:r>
              <a:rPr lang="en-US" sz="2300">
                <a:solidFill>
                  <a:srgbClr val="0F4662"/>
                </a:solidFill>
                <a:latin typeface="Quicksand"/>
                <a:ea typeface="Quicksand"/>
                <a:cs typeface="Quicksand"/>
                <a:sym typeface="Quicksand"/>
              </a:rPr>
              <a:t>•Getting real-time notifications about when a technician will arrive.</a:t>
            </a:r>
          </a:p>
          <a:p>
            <a:pPr algn="l" marL="0" indent="0" lvl="0">
              <a:lnSpc>
                <a:spcPts val="3220"/>
              </a:lnSpc>
              <a:spcBef>
                <a:spcPct val="0"/>
              </a:spcBef>
            </a:pPr>
            <a:r>
              <a:rPr lang="en-US" sz="2300">
                <a:solidFill>
                  <a:srgbClr val="0F4662"/>
                </a:solidFill>
                <a:latin typeface="Quicksand"/>
                <a:ea typeface="Quicksand"/>
                <a:cs typeface="Quicksand"/>
                <a:sym typeface="Quicksand"/>
              </a:rPr>
              <a:t>•Having a functional, safe living space to study in.</a:t>
            </a:r>
          </a:p>
          <a:p>
            <a:pPr algn="l" marL="0" indent="0" lvl="0">
              <a:lnSpc>
                <a:spcPts val="3220"/>
              </a:lnSpc>
              <a:spcBef>
                <a:spcPct val="0"/>
              </a:spcBef>
            </a:pPr>
          </a:p>
        </p:txBody>
      </p:sp>
      <p:sp>
        <p:nvSpPr>
          <p:cNvPr name="Freeform 7" id="7"/>
          <p:cNvSpPr/>
          <p:nvPr/>
        </p:nvSpPr>
        <p:spPr>
          <a:xfrm flipH="false" flipV="false" rot="0">
            <a:off x="15579303" y="714009"/>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4384" y="9529723"/>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544006" y="5519936"/>
            <a:ext cx="6304799" cy="3190377"/>
          </a:xfrm>
          <a:prstGeom prst="rect">
            <a:avLst/>
          </a:prstGeom>
        </p:spPr>
        <p:txBody>
          <a:bodyPr anchor="t" rtlCol="false" tIns="0" lIns="0" bIns="0" rIns="0">
            <a:spAutoFit/>
          </a:bodyPr>
          <a:lstStyle/>
          <a:p>
            <a:pPr algn="l">
              <a:lnSpc>
                <a:spcPts val="3177"/>
              </a:lnSpc>
              <a:spcBef>
                <a:spcPct val="0"/>
              </a:spcBef>
            </a:pPr>
            <a:r>
              <a:rPr lang="en-US" b="true" sz="2269">
                <a:solidFill>
                  <a:srgbClr val="0F4662"/>
                </a:solidFill>
                <a:latin typeface="Quicksand Bold"/>
                <a:ea typeface="Quicksand Bold"/>
                <a:cs typeface="Quicksand Bold"/>
                <a:sym typeface="Quicksand Bold"/>
              </a:rPr>
              <a:t>•Name: Marcus</a:t>
            </a:r>
          </a:p>
          <a:p>
            <a:pPr algn="l">
              <a:lnSpc>
                <a:spcPts val="3177"/>
              </a:lnSpc>
              <a:spcBef>
                <a:spcPct val="0"/>
              </a:spcBef>
            </a:pPr>
            <a:r>
              <a:rPr lang="en-US" b="true" sz="2269">
                <a:solidFill>
                  <a:srgbClr val="0F4662"/>
                </a:solidFill>
                <a:latin typeface="Quicksand Bold"/>
                <a:ea typeface="Quicksand Bold"/>
                <a:cs typeface="Quicksand Bold"/>
                <a:sym typeface="Quicksand Bold"/>
              </a:rPr>
              <a:t>•Age: 20</a:t>
            </a:r>
          </a:p>
          <a:p>
            <a:pPr algn="l">
              <a:lnSpc>
                <a:spcPts val="3177"/>
              </a:lnSpc>
              <a:spcBef>
                <a:spcPct val="0"/>
              </a:spcBef>
            </a:pPr>
            <a:r>
              <a:rPr lang="en-US" b="true" sz="2269">
                <a:solidFill>
                  <a:srgbClr val="0F4662"/>
                </a:solidFill>
                <a:latin typeface="Quicksand Bold"/>
                <a:ea typeface="Quicksand Bold"/>
                <a:cs typeface="Quicksand Bold"/>
                <a:sym typeface="Quicksand Bold"/>
              </a:rPr>
              <a:t>•Location: New York, NY (Pace University Housing)</a:t>
            </a:r>
          </a:p>
          <a:p>
            <a:pPr algn="l">
              <a:lnSpc>
                <a:spcPts val="3177"/>
              </a:lnSpc>
              <a:spcBef>
                <a:spcPct val="0"/>
              </a:spcBef>
            </a:pPr>
            <a:r>
              <a:rPr lang="en-US" b="true" sz="2269">
                <a:solidFill>
                  <a:srgbClr val="0F4662"/>
                </a:solidFill>
                <a:latin typeface="Quicksand Bold"/>
                <a:ea typeface="Quicksand Bold"/>
                <a:cs typeface="Quicksand Bold"/>
                <a:sym typeface="Quicksand Bold"/>
              </a:rPr>
              <a:t>•Status: Student / Resident</a:t>
            </a:r>
          </a:p>
          <a:p>
            <a:pPr algn="l">
              <a:lnSpc>
                <a:spcPts val="3177"/>
              </a:lnSpc>
              <a:spcBef>
                <a:spcPct val="0"/>
              </a:spcBef>
            </a:pPr>
            <a:r>
              <a:rPr lang="en-US" b="true" sz="2269">
                <a:solidFill>
                  <a:srgbClr val="0F4662"/>
                </a:solidFill>
                <a:latin typeface="Quicksand Bold"/>
                <a:ea typeface="Quicksand Bold"/>
                <a:cs typeface="Quicksand Bold"/>
                <a:sym typeface="Quicksand Bold"/>
              </a:rPr>
              <a:t>•Tech Literacy: High (Prefers apps over phone calls)</a:t>
            </a:r>
          </a:p>
          <a:p>
            <a:pPr algn="l">
              <a:lnSpc>
                <a:spcPts val="3177"/>
              </a:lnSpc>
              <a:spcBef>
                <a:spcPct val="0"/>
              </a:spcBef>
            </a:pPr>
            <a:r>
              <a:rPr lang="en-US" b="true" sz="2269">
                <a:solidFill>
                  <a:srgbClr val="0F4662"/>
                </a:solidFill>
                <a:latin typeface="Quicksand Bold"/>
                <a:ea typeface="Quicksand Bold"/>
                <a:cs typeface="Quicksand Bold"/>
                <a:sym typeface="Quicksand Bold"/>
              </a:rPr>
              <a:t>Living Situation: Shared Suite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7806726" y="4099272"/>
            <a:ext cx="3442653" cy="2676663"/>
          </a:xfrm>
          <a:custGeom>
            <a:avLst/>
            <a:gdLst/>
            <a:ahLst/>
            <a:cxnLst/>
            <a:rect r="r" b="b" t="t" l="l"/>
            <a:pathLst>
              <a:path h="2676663" w="3442653">
                <a:moveTo>
                  <a:pt x="0" y="0"/>
                </a:moveTo>
                <a:lnTo>
                  <a:pt x="3442652" y="0"/>
                </a:lnTo>
                <a:lnTo>
                  <a:pt x="3442652" y="2676663"/>
                </a:lnTo>
                <a:lnTo>
                  <a:pt x="0" y="2676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4384" y="599709"/>
            <a:ext cx="14072064"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Persona 2</a:t>
            </a:r>
          </a:p>
        </p:txBody>
      </p:sp>
      <p:sp>
        <p:nvSpPr>
          <p:cNvPr name="TextBox 4" id="4"/>
          <p:cNvSpPr txBox="true"/>
          <p:nvPr/>
        </p:nvSpPr>
        <p:spPr>
          <a:xfrm rot="0">
            <a:off x="367059" y="2973316"/>
            <a:ext cx="6976970" cy="2464287"/>
          </a:xfrm>
          <a:prstGeom prst="rect">
            <a:avLst/>
          </a:prstGeom>
        </p:spPr>
        <p:txBody>
          <a:bodyPr anchor="t" rtlCol="false" tIns="0" lIns="0" bIns="0" rIns="0">
            <a:spAutoFit/>
          </a:bodyPr>
          <a:lstStyle/>
          <a:p>
            <a:pPr algn="just" marL="0" indent="0" lvl="0">
              <a:lnSpc>
                <a:spcPts val="2248"/>
              </a:lnSpc>
              <a:spcBef>
                <a:spcPct val="0"/>
              </a:spcBef>
            </a:pPr>
            <a:r>
              <a:rPr lang="en-US" sz="1605">
                <a:solidFill>
                  <a:srgbClr val="0F4662"/>
                </a:solidFill>
                <a:latin typeface="Quicksand"/>
                <a:ea typeface="Quicksand"/>
                <a:cs typeface="Quicksand"/>
                <a:sym typeface="Quicksand"/>
              </a:rPr>
              <a:t>Marcus is a 20-year-old Junior at Pace University living in an on-campus residence hall. He is a full-time student with a heavy course load and a part-time job. He doesn't have time to wait on hold with campus security or visit the facilities office in person. He relies entirely on his smartphone to manage his life.Profile: David is a 45-year-old lead maintenance technician with 15 years of experience. He is skilled at his job but often frustrated by the lack of information in work orders. He hates arriving at a "clogged sink" only to realize he needs a specific industrial snake tool that he left back at the central workshop, 15 minutes away.</a:t>
            </a:r>
          </a:p>
        </p:txBody>
      </p:sp>
      <p:sp>
        <p:nvSpPr>
          <p:cNvPr name="TextBox 5" id="5"/>
          <p:cNvSpPr txBox="true"/>
          <p:nvPr/>
        </p:nvSpPr>
        <p:spPr>
          <a:xfrm rot="0">
            <a:off x="778478" y="2390034"/>
            <a:ext cx="5348229" cy="490855"/>
          </a:xfrm>
          <a:prstGeom prst="rect">
            <a:avLst/>
          </a:prstGeom>
        </p:spPr>
        <p:txBody>
          <a:bodyPr anchor="t" rtlCol="false" tIns="0" lIns="0" bIns="0" rIns="0">
            <a:spAutoFit/>
          </a:bodyPr>
          <a:lstStyle/>
          <a:p>
            <a:pPr algn="just" marL="0" indent="0" lvl="0">
              <a:lnSpc>
                <a:spcPts val="3919"/>
              </a:lnSpc>
              <a:spcBef>
                <a:spcPct val="0"/>
              </a:spcBef>
            </a:pPr>
            <a:r>
              <a:rPr lang="en-US" b="true" sz="2799">
                <a:solidFill>
                  <a:srgbClr val="0F4662"/>
                </a:solidFill>
                <a:latin typeface="Quicksand Bold"/>
                <a:ea typeface="Quicksand Bold"/>
                <a:cs typeface="Quicksand Bold"/>
                <a:sym typeface="Quicksand Bold"/>
              </a:rPr>
              <a:t>Profile</a:t>
            </a:r>
          </a:p>
        </p:txBody>
      </p:sp>
      <p:sp>
        <p:nvSpPr>
          <p:cNvPr name="TextBox 6" id="6"/>
          <p:cNvSpPr txBox="true"/>
          <p:nvPr/>
        </p:nvSpPr>
        <p:spPr>
          <a:xfrm rot="0">
            <a:off x="11535128" y="2575809"/>
            <a:ext cx="5348229" cy="6790055"/>
          </a:xfrm>
          <a:prstGeom prst="rect">
            <a:avLst/>
          </a:prstGeom>
        </p:spPr>
        <p:txBody>
          <a:bodyPr anchor="t" rtlCol="false" tIns="0" lIns="0" bIns="0" rIns="0">
            <a:spAutoFit/>
          </a:bodyPr>
          <a:lstStyle/>
          <a:p>
            <a:pPr algn="just">
              <a:lnSpc>
                <a:spcPts val="3220"/>
              </a:lnSpc>
            </a:pPr>
            <a:r>
              <a:rPr lang="en-US" sz="2300">
                <a:solidFill>
                  <a:srgbClr val="0F4662"/>
                </a:solidFill>
                <a:latin typeface="Quicksand"/>
                <a:ea typeface="Quicksand"/>
                <a:cs typeface="Quicksand"/>
                <a:sym typeface="Quicksand"/>
              </a:rPr>
              <a:t>Frustrations:</a:t>
            </a:r>
          </a:p>
          <a:p>
            <a:pPr algn="just">
              <a:lnSpc>
                <a:spcPts val="3220"/>
              </a:lnSpc>
            </a:pPr>
            <a:r>
              <a:rPr lang="en-US" sz="2300">
                <a:solidFill>
                  <a:srgbClr val="0F4662"/>
                </a:solidFill>
                <a:latin typeface="Quicksand"/>
                <a:ea typeface="Quicksand"/>
                <a:cs typeface="Quicksand"/>
                <a:sym typeface="Quicksand"/>
              </a:rPr>
              <a:t>•Walking across a large campus only to find he brought the wrong tools for the job.</a:t>
            </a:r>
          </a:p>
          <a:p>
            <a:pPr algn="just">
              <a:lnSpc>
                <a:spcPts val="3220"/>
              </a:lnSpc>
            </a:pPr>
            <a:r>
              <a:rPr lang="en-US" sz="2300">
                <a:solidFill>
                  <a:srgbClr val="0F4662"/>
                </a:solidFill>
                <a:latin typeface="Quicksand"/>
                <a:ea typeface="Quicksand"/>
                <a:cs typeface="Quicksand"/>
                <a:sym typeface="Quicksand"/>
              </a:rPr>
              <a:t>•Illegible handwritten notes or vague descriptions like "it's broken."</a:t>
            </a:r>
          </a:p>
          <a:p>
            <a:pPr algn="just">
              <a:lnSpc>
                <a:spcPts val="3220"/>
              </a:lnSpc>
            </a:pPr>
            <a:r>
              <a:rPr lang="en-US" sz="2300">
                <a:solidFill>
                  <a:srgbClr val="0F4662"/>
                </a:solidFill>
                <a:latin typeface="Quicksand"/>
                <a:ea typeface="Quicksand"/>
                <a:cs typeface="Quicksand"/>
                <a:sym typeface="Quicksand"/>
              </a:rPr>
              <a:t>•Getting blamed for delays when he wasn't notified of a priority emergency.</a:t>
            </a:r>
          </a:p>
          <a:p>
            <a:pPr algn="just">
              <a:lnSpc>
                <a:spcPts val="3220"/>
              </a:lnSpc>
            </a:pPr>
            <a:r>
              <a:rPr lang="en-US" sz="2300">
                <a:solidFill>
                  <a:srgbClr val="0F4662"/>
                </a:solidFill>
                <a:latin typeface="Quicksand"/>
                <a:ea typeface="Quicksand"/>
                <a:cs typeface="Quicksand"/>
                <a:sym typeface="Quicksand"/>
              </a:rPr>
              <a:t>Goals:</a:t>
            </a:r>
          </a:p>
          <a:p>
            <a:pPr algn="just">
              <a:lnSpc>
                <a:spcPts val="3220"/>
              </a:lnSpc>
            </a:pPr>
            <a:r>
              <a:rPr lang="en-US" sz="2300">
                <a:solidFill>
                  <a:srgbClr val="0F4662"/>
                </a:solidFill>
                <a:latin typeface="Quicksand"/>
                <a:ea typeface="Quicksand"/>
                <a:cs typeface="Quicksand"/>
                <a:sym typeface="Quicksand"/>
              </a:rPr>
              <a:t>•Seeing a photo of the issue before he leaves the shop to prepare.</a:t>
            </a:r>
          </a:p>
          <a:p>
            <a:pPr algn="just">
              <a:lnSpc>
                <a:spcPts val="3220"/>
              </a:lnSpc>
            </a:pPr>
            <a:r>
              <a:rPr lang="en-US" sz="2300">
                <a:solidFill>
                  <a:srgbClr val="0F4662"/>
                </a:solidFill>
                <a:latin typeface="Quicksand"/>
                <a:ea typeface="Quicksand"/>
                <a:cs typeface="Quicksand"/>
                <a:sym typeface="Quicksand"/>
              </a:rPr>
              <a:t>•Closing out tickets digitally so he doesn't have to do paperwork at the end of the day.</a:t>
            </a:r>
          </a:p>
          <a:p>
            <a:pPr algn="just" marL="0" indent="0" lvl="0">
              <a:lnSpc>
                <a:spcPts val="3220"/>
              </a:lnSpc>
              <a:spcBef>
                <a:spcPct val="0"/>
              </a:spcBef>
            </a:pPr>
            <a:r>
              <a:rPr lang="en-US" sz="2300">
                <a:solidFill>
                  <a:srgbClr val="0F4662"/>
                </a:solidFill>
                <a:latin typeface="Quicksand"/>
                <a:ea typeface="Quicksand"/>
                <a:cs typeface="Quicksand"/>
                <a:sym typeface="Quicksand"/>
              </a:rPr>
              <a:t>•Efficiently completing his daily route to reduce overtime.</a:t>
            </a:r>
          </a:p>
          <a:p>
            <a:pPr algn="just" marL="0" indent="0" lvl="0">
              <a:lnSpc>
                <a:spcPts val="3220"/>
              </a:lnSpc>
              <a:spcBef>
                <a:spcPct val="0"/>
              </a:spcBef>
            </a:pPr>
          </a:p>
        </p:txBody>
      </p:sp>
      <p:sp>
        <p:nvSpPr>
          <p:cNvPr name="Freeform 7" id="7"/>
          <p:cNvSpPr/>
          <p:nvPr/>
        </p:nvSpPr>
        <p:spPr>
          <a:xfrm flipH="false" flipV="false" rot="0">
            <a:off x="15579303" y="714009"/>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4384" y="9529723"/>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703145" y="5763238"/>
            <a:ext cx="6304799" cy="2790327"/>
          </a:xfrm>
          <a:prstGeom prst="rect">
            <a:avLst/>
          </a:prstGeom>
        </p:spPr>
        <p:txBody>
          <a:bodyPr anchor="t" rtlCol="false" tIns="0" lIns="0" bIns="0" rIns="0">
            <a:spAutoFit/>
          </a:bodyPr>
          <a:lstStyle/>
          <a:p>
            <a:pPr algn="l">
              <a:lnSpc>
                <a:spcPts val="3177"/>
              </a:lnSpc>
              <a:spcBef>
                <a:spcPct val="0"/>
              </a:spcBef>
            </a:pPr>
            <a:r>
              <a:rPr lang="en-US" b="true" sz="2269">
                <a:solidFill>
                  <a:srgbClr val="0F4662"/>
                </a:solidFill>
                <a:latin typeface="Quicksand Bold"/>
                <a:ea typeface="Quicksand Bold"/>
                <a:cs typeface="Quicksand Bold"/>
                <a:sym typeface="Quicksand Bold"/>
              </a:rPr>
              <a:t>•Name: David</a:t>
            </a:r>
          </a:p>
          <a:p>
            <a:pPr algn="l">
              <a:lnSpc>
                <a:spcPts val="3177"/>
              </a:lnSpc>
              <a:spcBef>
                <a:spcPct val="0"/>
              </a:spcBef>
            </a:pPr>
            <a:r>
              <a:rPr lang="en-US" b="true" sz="2269">
                <a:solidFill>
                  <a:srgbClr val="0F4662"/>
                </a:solidFill>
                <a:latin typeface="Quicksand Bold"/>
                <a:ea typeface="Quicksand Bold"/>
                <a:cs typeface="Quicksand Bold"/>
                <a:sym typeface="Quicksand Bold"/>
              </a:rPr>
              <a:t>•Age: 45</a:t>
            </a:r>
          </a:p>
          <a:p>
            <a:pPr algn="l">
              <a:lnSpc>
                <a:spcPts val="3177"/>
              </a:lnSpc>
              <a:spcBef>
                <a:spcPct val="0"/>
              </a:spcBef>
            </a:pPr>
            <a:r>
              <a:rPr lang="en-US" b="true" sz="2269">
                <a:solidFill>
                  <a:srgbClr val="0F4662"/>
                </a:solidFill>
                <a:latin typeface="Quicksand Bold"/>
                <a:ea typeface="Quicksand Bold"/>
                <a:cs typeface="Quicksand Bold"/>
                <a:sym typeface="Quicksand Bold"/>
              </a:rPr>
              <a:t>•Location: Westchester, NY</a:t>
            </a:r>
          </a:p>
          <a:p>
            <a:pPr algn="l">
              <a:lnSpc>
                <a:spcPts val="3177"/>
              </a:lnSpc>
              <a:spcBef>
                <a:spcPct val="0"/>
              </a:spcBef>
            </a:pPr>
            <a:r>
              <a:rPr lang="en-US" b="true" sz="2269">
                <a:solidFill>
                  <a:srgbClr val="0F4662"/>
                </a:solidFill>
                <a:latin typeface="Quicksand Bold"/>
                <a:ea typeface="Quicksand Bold"/>
                <a:cs typeface="Quicksand Bold"/>
                <a:sym typeface="Quicksand Bold"/>
              </a:rPr>
              <a:t>•Job: Facilities Technician</a:t>
            </a:r>
          </a:p>
          <a:p>
            <a:pPr algn="l">
              <a:lnSpc>
                <a:spcPts val="3177"/>
              </a:lnSpc>
              <a:spcBef>
                <a:spcPct val="0"/>
              </a:spcBef>
            </a:pPr>
            <a:r>
              <a:rPr lang="en-US" b="true" sz="2269">
                <a:solidFill>
                  <a:srgbClr val="0F4662"/>
                </a:solidFill>
                <a:latin typeface="Quicksand Bold"/>
                <a:ea typeface="Quicksand Bold"/>
                <a:cs typeface="Quicksand Bold"/>
                <a:sym typeface="Quicksand Bold"/>
              </a:rPr>
              <a:t>•Work Style: Practical, hands-on, mobile.</a:t>
            </a:r>
          </a:p>
          <a:p>
            <a:pPr algn="l">
              <a:lnSpc>
                <a:spcPts val="3177"/>
              </a:lnSpc>
              <a:spcBef>
                <a:spcPct val="0"/>
              </a:spcBef>
            </a:pPr>
            <a:r>
              <a:rPr lang="en-US" b="true" sz="2269">
                <a:solidFill>
                  <a:srgbClr val="0F4662"/>
                </a:solidFill>
                <a:latin typeface="Quicksand Bold"/>
                <a:ea typeface="Quicksand Bold"/>
                <a:cs typeface="Quicksand Bold"/>
                <a:sym typeface="Quicksand Bold"/>
              </a:rPr>
              <a:t>•Family: Married with two kids.</a:t>
            </a:r>
          </a:p>
          <a:p>
            <a:pPr algn="l">
              <a:lnSpc>
                <a:spcPts val="3177"/>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7806726" y="4099272"/>
            <a:ext cx="3442653" cy="2676663"/>
          </a:xfrm>
          <a:custGeom>
            <a:avLst/>
            <a:gdLst/>
            <a:ahLst/>
            <a:cxnLst/>
            <a:rect r="r" b="b" t="t" l="l"/>
            <a:pathLst>
              <a:path h="2676663" w="3442653">
                <a:moveTo>
                  <a:pt x="0" y="0"/>
                </a:moveTo>
                <a:lnTo>
                  <a:pt x="3442652" y="0"/>
                </a:lnTo>
                <a:lnTo>
                  <a:pt x="3442652" y="2676663"/>
                </a:lnTo>
                <a:lnTo>
                  <a:pt x="0" y="267666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4384" y="599709"/>
            <a:ext cx="14072064"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Persona 3</a:t>
            </a:r>
          </a:p>
        </p:txBody>
      </p:sp>
      <p:sp>
        <p:nvSpPr>
          <p:cNvPr name="TextBox 4" id="4"/>
          <p:cNvSpPr txBox="true"/>
          <p:nvPr/>
        </p:nvSpPr>
        <p:spPr>
          <a:xfrm rot="0">
            <a:off x="414248" y="3338838"/>
            <a:ext cx="7106728" cy="2390058"/>
          </a:xfrm>
          <a:prstGeom prst="rect">
            <a:avLst/>
          </a:prstGeom>
        </p:spPr>
        <p:txBody>
          <a:bodyPr anchor="t" rtlCol="false" tIns="0" lIns="0" bIns="0" rIns="0">
            <a:spAutoFit/>
          </a:bodyPr>
          <a:lstStyle/>
          <a:p>
            <a:pPr algn="just" marL="0" indent="0" lvl="0">
              <a:lnSpc>
                <a:spcPts val="2559"/>
              </a:lnSpc>
              <a:spcBef>
                <a:spcPct val="0"/>
              </a:spcBef>
            </a:pPr>
            <a:r>
              <a:rPr lang="en-US" sz="1828">
                <a:solidFill>
                  <a:srgbClr val="0F4662"/>
                </a:solidFill>
                <a:latin typeface="Quicksand"/>
                <a:ea typeface="Quicksand"/>
                <a:cs typeface="Quicksand"/>
                <a:sym typeface="Quicksand"/>
              </a:rPr>
              <a:t>Profile: Elena is a 38-year-old Property Manager responsible for three large dormitory buildings. She needs to keep costs low and resident satisfaction high. She cares about "the big picture"—knowing which buildings have the most issues and ensuring her team is working efficiently. She is the person who will be interested in the "Audit Logs" you mentioned.</a:t>
            </a:r>
          </a:p>
          <a:p>
            <a:pPr algn="just" marL="0" indent="0" lvl="0">
              <a:lnSpc>
                <a:spcPts val="3819"/>
              </a:lnSpc>
              <a:spcBef>
                <a:spcPct val="0"/>
              </a:spcBef>
            </a:pPr>
          </a:p>
        </p:txBody>
      </p:sp>
      <p:sp>
        <p:nvSpPr>
          <p:cNvPr name="TextBox 5" id="5"/>
          <p:cNvSpPr txBox="true"/>
          <p:nvPr/>
        </p:nvSpPr>
        <p:spPr>
          <a:xfrm rot="0">
            <a:off x="778478" y="2390034"/>
            <a:ext cx="5348229" cy="490855"/>
          </a:xfrm>
          <a:prstGeom prst="rect">
            <a:avLst/>
          </a:prstGeom>
        </p:spPr>
        <p:txBody>
          <a:bodyPr anchor="t" rtlCol="false" tIns="0" lIns="0" bIns="0" rIns="0">
            <a:spAutoFit/>
          </a:bodyPr>
          <a:lstStyle/>
          <a:p>
            <a:pPr algn="just" marL="0" indent="0" lvl="0">
              <a:lnSpc>
                <a:spcPts val="3919"/>
              </a:lnSpc>
              <a:spcBef>
                <a:spcPct val="0"/>
              </a:spcBef>
            </a:pPr>
            <a:r>
              <a:rPr lang="en-US" b="true" sz="2799">
                <a:solidFill>
                  <a:srgbClr val="0F4662"/>
                </a:solidFill>
                <a:latin typeface="Quicksand Bold"/>
                <a:ea typeface="Quicksand Bold"/>
                <a:cs typeface="Quicksand Bold"/>
                <a:sym typeface="Quicksand Bold"/>
              </a:rPr>
              <a:t>Profile</a:t>
            </a:r>
          </a:p>
        </p:txBody>
      </p:sp>
      <p:sp>
        <p:nvSpPr>
          <p:cNvPr name="TextBox 6" id="6"/>
          <p:cNvSpPr txBox="true"/>
          <p:nvPr/>
        </p:nvSpPr>
        <p:spPr>
          <a:xfrm rot="0">
            <a:off x="11535128" y="2585334"/>
            <a:ext cx="4438918" cy="6944389"/>
          </a:xfrm>
          <a:prstGeom prst="rect">
            <a:avLst/>
          </a:prstGeom>
        </p:spPr>
        <p:txBody>
          <a:bodyPr anchor="t" rtlCol="false" tIns="0" lIns="0" bIns="0" rIns="0">
            <a:spAutoFit/>
          </a:bodyPr>
          <a:lstStyle/>
          <a:p>
            <a:pPr algn="l">
              <a:lnSpc>
                <a:spcPts val="2788"/>
              </a:lnSpc>
            </a:pPr>
            <a:r>
              <a:rPr lang="en-US" sz="1991">
                <a:solidFill>
                  <a:srgbClr val="0F4662"/>
                </a:solidFill>
                <a:latin typeface="Quicksand"/>
                <a:ea typeface="Quicksand"/>
                <a:cs typeface="Quicksand"/>
                <a:sym typeface="Quicksand"/>
              </a:rPr>
              <a:t>Frustrations:</a:t>
            </a:r>
          </a:p>
          <a:p>
            <a:pPr algn="l">
              <a:lnSpc>
                <a:spcPts val="2788"/>
              </a:lnSpc>
            </a:pPr>
            <a:r>
              <a:rPr lang="en-US" sz="1991">
                <a:solidFill>
                  <a:srgbClr val="0F4662"/>
                </a:solidFill>
                <a:latin typeface="Quicksand"/>
                <a:ea typeface="Quicksand"/>
                <a:cs typeface="Quicksand"/>
                <a:sym typeface="Quicksand"/>
              </a:rPr>
              <a:t>•Having no clear data on how long it takes for a ticket to go from "Open" to "Closed."</a:t>
            </a:r>
          </a:p>
          <a:p>
            <a:pPr algn="l">
              <a:lnSpc>
                <a:spcPts val="2788"/>
              </a:lnSpc>
            </a:pPr>
            <a:r>
              <a:rPr lang="en-US" sz="1991">
                <a:solidFill>
                  <a:srgbClr val="0F4662"/>
                </a:solidFill>
                <a:latin typeface="Quicksand"/>
                <a:ea typeface="Quicksand"/>
                <a:cs typeface="Quicksand"/>
                <a:sym typeface="Quicksand"/>
              </a:rPr>
              <a:t>•Dealing with angry parents/residents complaining about ignored requests.</a:t>
            </a:r>
          </a:p>
          <a:p>
            <a:pPr algn="l">
              <a:lnSpc>
                <a:spcPts val="2788"/>
              </a:lnSpc>
            </a:pPr>
            <a:r>
              <a:rPr lang="en-US" sz="1991">
                <a:solidFill>
                  <a:srgbClr val="0F4662"/>
                </a:solidFill>
                <a:latin typeface="Quicksand"/>
                <a:ea typeface="Quicksand"/>
                <a:cs typeface="Quicksand"/>
                <a:sym typeface="Quicksand"/>
              </a:rPr>
              <a:t>•Unpredictable repair costs caused by small issues turning into major floods.</a:t>
            </a:r>
          </a:p>
          <a:p>
            <a:pPr algn="l">
              <a:lnSpc>
                <a:spcPts val="2788"/>
              </a:lnSpc>
            </a:pPr>
            <a:r>
              <a:rPr lang="en-US" sz="1991">
                <a:solidFill>
                  <a:srgbClr val="0F4662"/>
                </a:solidFill>
                <a:latin typeface="Quicksand"/>
                <a:ea typeface="Quicksand"/>
                <a:cs typeface="Quicksand"/>
                <a:sym typeface="Quicksand"/>
              </a:rPr>
              <a:t>Goals:</a:t>
            </a:r>
          </a:p>
          <a:p>
            <a:pPr algn="l">
              <a:lnSpc>
                <a:spcPts val="2788"/>
              </a:lnSpc>
            </a:pPr>
            <a:r>
              <a:rPr lang="en-US" sz="1991">
                <a:solidFill>
                  <a:srgbClr val="0F4662"/>
                </a:solidFill>
                <a:latin typeface="Quicksand"/>
                <a:ea typeface="Quicksand"/>
                <a:cs typeface="Quicksand"/>
                <a:sym typeface="Quicksand"/>
              </a:rPr>
              <a:t>•Identifying recurring issues (e.g., "Building B has constant pipe leaks") to justify renovations.</a:t>
            </a:r>
          </a:p>
          <a:p>
            <a:pPr algn="l">
              <a:lnSpc>
                <a:spcPts val="2788"/>
              </a:lnSpc>
            </a:pPr>
            <a:r>
              <a:rPr lang="en-US" sz="1991">
                <a:solidFill>
                  <a:srgbClr val="0F4662"/>
                </a:solidFill>
                <a:latin typeface="Quicksand"/>
                <a:ea typeface="Quicksand"/>
                <a:cs typeface="Quicksand"/>
                <a:sym typeface="Quicksand"/>
              </a:rPr>
              <a:t>•Ensuring the maintenance team is meeting their Service Level Agreements (SLAs).</a:t>
            </a:r>
          </a:p>
          <a:p>
            <a:pPr algn="l">
              <a:lnSpc>
                <a:spcPts val="2788"/>
              </a:lnSpc>
            </a:pPr>
            <a:r>
              <a:rPr lang="en-US" sz="1991">
                <a:solidFill>
                  <a:srgbClr val="0F4662"/>
                </a:solidFill>
                <a:latin typeface="Quicksand"/>
                <a:ea typeface="Quicksand"/>
                <a:cs typeface="Quicksand"/>
                <a:sym typeface="Quicksand"/>
              </a:rPr>
              <a:t>•Maintaining a 100% digital audit trail for liability and safety compliance.</a:t>
            </a:r>
          </a:p>
          <a:p>
            <a:pPr algn="l" marL="0" indent="0" lvl="0">
              <a:lnSpc>
                <a:spcPts val="2788"/>
              </a:lnSpc>
              <a:spcBef>
                <a:spcPct val="0"/>
              </a:spcBef>
            </a:pPr>
          </a:p>
        </p:txBody>
      </p:sp>
      <p:sp>
        <p:nvSpPr>
          <p:cNvPr name="Freeform 7" id="7"/>
          <p:cNvSpPr/>
          <p:nvPr/>
        </p:nvSpPr>
        <p:spPr>
          <a:xfrm flipH="false" flipV="false" rot="0">
            <a:off x="15579303" y="714009"/>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24384" y="9529723"/>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544006" y="5519936"/>
            <a:ext cx="6304799" cy="3859793"/>
          </a:xfrm>
          <a:prstGeom prst="rect">
            <a:avLst/>
          </a:prstGeom>
        </p:spPr>
        <p:txBody>
          <a:bodyPr anchor="t" rtlCol="false" tIns="0" lIns="0" bIns="0" rIns="0">
            <a:spAutoFit/>
          </a:bodyPr>
          <a:lstStyle/>
          <a:p>
            <a:pPr algn="l">
              <a:lnSpc>
                <a:spcPts val="3457"/>
              </a:lnSpc>
              <a:spcBef>
                <a:spcPct val="0"/>
              </a:spcBef>
            </a:pPr>
            <a:r>
              <a:rPr lang="en-US" b="true" sz="2469">
                <a:solidFill>
                  <a:srgbClr val="0F4662"/>
                </a:solidFill>
                <a:latin typeface="Quicksand Bold"/>
                <a:ea typeface="Quicksand Bold"/>
                <a:cs typeface="Quicksand Bold"/>
                <a:sym typeface="Quicksand Bold"/>
              </a:rPr>
              <a:t>•Name: Elena</a:t>
            </a:r>
          </a:p>
          <a:p>
            <a:pPr algn="l">
              <a:lnSpc>
                <a:spcPts val="3457"/>
              </a:lnSpc>
              <a:spcBef>
                <a:spcPct val="0"/>
              </a:spcBef>
            </a:pPr>
            <a:r>
              <a:rPr lang="en-US" b="true" sz="2469">
                <a:solidFill>
                  <a:srgbClr val="0F4662"/>
                </a:solidFill>
                <a:latin typeface="Quicksand Bold"/>
                <a:ea typeface="Quicksand Bold"/>
                <a:cs typeface="Quicksand Bold"/>
                <a:sym typeface="Quicksand Bold"/>
              </a:rPr>
              <a:t>•Age: 38</a:t>
            </a:r>
          </a:p>
          <a:p>
            <a:pPr algn="l">
              <a:lnSpc>
                <a:spcPts val="3457"/>
              </a:lnSpc>
              <a:spcBef>
                <a:spcPct val="0"/>
              </a:spcBef>
            </a:pPr>
            <a:r>
              <a:rPr lang="en-US" b="true" sz="2469">
                <a:solidFill>
                  <a:srgbClr val="0F4662"/>
                </a:solidFill>
                <a:latin typeface="Quicksand Bold"/>
                <a:ea typeface="Quicksand Bold"/>
                <a:cs typeface="Quicksand Bold"/>
                <a:sym typeface="Quicksand Bold"/>
              </a:rPr>
              <a:t>•Location: New York, NY</a:t>
            </a:r>
          </a:p>
          <a:p>
            <a:pPr algn="l">
              <a:lnSpc>
                <a:spcPts val="3457"/>
              </a:lnSpc>
              <a:spcBef>
                <a:spcPct val="0"/>
              </a:spcBef>
            </a:pPr>
            <a:r>
              <a:rPr lang="en-US" b="true" sz="2469">
                <a:solidFill>
                  <a:srgbClr val="0F4662"/>
                </a:solidFill>
                <a:latin typeface="Quicksand Bold"/>
                <a:ea typeface="Quicksand Bold"/>
                <a:cs typeface="Quicksand Bold"/>
                <a:sym typeface="Quicksand Bold"/>
              </a:rPr>
              <a:t>•Job: Senior Property Manager</a:t>
            </a:r>
          </a:p>
          <a:p>
            <a:pPr algn="l">
              <a:lnSpc>
                <a:spcPts val="3457"/>
              </a:lnSpc>
              <a:spcBef>
                <a:spcPct val="0"/>
              </a:spcBef>
            </a:pPr>
            <a:r>
              <a:rPr lang="en-US" b="true" sz="2469">
                <a:solidFill>
                  <a:srgbClr val="0F4662"/>
                </a:solidFill>
                <a:latin typeface="Quicksand Bold"/>
                <a:ea typeface="Quicksand Bold"/>
                <a:cs typeface="Quicksand Bold"/>
                <a:sym typeface="Quicksand Bold"/>
              </a:rPr>
              <a:t>•Tech Literacy: Moderate (Wants clean, easy-to-read data)</a:t>
            </a:r>
          </a:p>
          <a:p>
            <a:pPr algn="l">
              <a:lnSpc>
                <a:spcPts val="3457"/>
              </a:lnSpc>
              <a:spcBef>
                <a:spcPct val="0"/>
              </a:spcBef>
            </a:pPr>
            <a:r>
              <a:rPr lang="en-US" b="true" sz="2469">
                <a:solidFill>
                  <a:srgbClr val="0F4662"/>
                </a:solidFill>
                <a:latin typeface="Quicksand Bold"/>
                <a:ea typeface="Quicksand Bold"/>
                <a:cs typeface="Quicksand Bold"/>
                <a:sym typeface="Quicksand Bold"/>
              </a:rPr>
              <a:t>•Interests: Data analytics, budget optimization.</a:t>
            </a:r>
          </a:p>
          <a:p>
            <a:pPr algn="l">
              <a:lnSpc>
                <a:spcPts val="3457"/>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664771" y="1804242"/>
            <a:ext cx="5539941" cy="7448847"/>
            <a:chOff x="0" y="0"/>
            <a:chExt cx="858282" cy="1154021"/>
          </a:xfrm>
        </p:grpSpPr>
        <p:sp>
          <p:nvSpPr>
            <p:cNvPr name="Freeform 3" id="3"/>
            <p:cNvSpPr/>
            <p:nvPr/>
          </p:nvSpPr>
          <p:spPr>
            <a:xfrm flipH="false" flipV="false" rot="0">
              <a:off x="0" y="0"/>
              <a:ext cx="858282" cy="1154021"/>
            </a:xfrm>
            <a:custGeom>
              <a:avLst/>
              <a:gdLst/>
              <a:ahLst/>
              <a:cxnLst/>
              <a:rect r="r" b="b" t="t" l="l"/>
              <a:pathLst>
                <a:path h="1154021" w="858282">
                  <a:moveTo>
                    <a:pt x="32142" y="0"/>
                  </a:moveTo>
                  <a:lnTo>
                    <a:pt x="826140" y="0"/>
                  </a:lnTo>
                  <a:cubicBezTo>
                    <a:pt x="843892" y="0"/>
                    <a:pt x="858282" y="14390"/>
                    <a:pt x="858282" y="32142"/>
                  </a:cubicBezTo>
                  <a:lnTo>
                    <a:pt x="858282" y="1121879"/>
                  </a:lnTo>
                  <a:cubicBezTo>
                    <a:pt x="858282" y="1130404"/>
                    <a:pt x="854896" y="1138579"/>
                    <a:pt x="848868" y="1144607"/>
                  </a:cubicBezTo>
                  <a:cubicBezTo>
                    <a:pt x="842840" y="1150635"/>
                    <a:pt x="834665" y="1154021"/>
                    <a:pt x="826140" y="1154021"/>
                  </a:cubicBezTo>
                  <a:lnTo>
                    <a:pt x="32142" y="1154021"/>
                  </a:lnTo>
                  <a:cubicBezTo>
                    <a:pt x="23617" y="1154021"/>
                    <a:pt x="15442" y="1150635"/>
                    <a:pt x="9414" y="1144607"/>
                  </a:cubicBezTo>
                  <a:cubicBezTo>
                    <a:pt x="3386" y="1138579"/>
                    <a:pt x="0" y="1130404"/>
                    <a:pt x="0" y="1121879"/>
                  </a:cubicBezTo>
                  <a:lnTo>
                    <a:pt x="0" y="32142"/>
                  </a:lnTo>
                  <a:cubicBezTo>
                    <a:pt x="0" y="14390"/>
                    <a:pt x="14390" y="0"/>
                    <a:pt x="32142" y="0"/>
                  </a:cubicBezTo>
                  <a:close/>
                </a:path>
              </a:pathLst>
            </a:custGeom>
            <a:blipFill>
              <a:blip r:embed="rId2"/>
              <a:stretch>
                <a:fillRect l="0" t="-5710" r="0" b="-5710"/>
              </a:stretch>
            </a:blipFill>
          </p:spPr>
        </p:sp>
      </p:grpSp>
      <p:grpSp>
        <p:nvGrpSpPr>
          <p:cNvPr name="Group 4" id="4"/>
          <p:cNvGrpSpPr/>
          <p:nvPr/>
        </p:nvGrpSpPr>
        <p:grpSpPr>
          <a:xfrm rot="0">
            <a:off x="8449761" y="0"/>
            <a:ext cx="9838239" cy="10287000"/>
            <a:chOff x="0" y="0"/>
            <a:chExt cx="2591141" cy="2709333"/>
          </a:xfrm>
        </p:grpSpPr>
        <p:sp>
          <p:nvSpPr>
            <p:cNvPr name="Freeform 5" id="5"/>
            <p:cNvSpPr/>
            <p:nvPr/>
          </p:nvSpPr>
          <p:spPr>
            <a:xfrm flipH="false" flipV="false" rot="0">
              <a:off x="0" y="0"/>
              <a:ext cx="2591141" cy="2709333"/>
            </a:xfrm>
            <a:custGeom>
              <a:avLst/>
              <a:gdLst/>
              <a:ahLst/>
              <a:cxnLst/>
              <a:rect r="r" b="b" t="t" l="l"/>
              <a:pathLst>
                <a:path h="2709333" w="2591141">
                  <a:moveTo>
                    <a:pt x="0" y="0"/>
                  </a:moveTo>
                  <a:lnTo>
                    <a:pt x="2591141" y="0"/>
                  </a:lnTo>
                  <a:lnTo>
                    <a:pt x="2591141" y="2709333"/>
                  </a:lnTo>
                  <a:lnTo>
                    <a:pt x="0" y="2709333"/>
                  </a:lnTo>
                  <a:close/>
                </a:path>
              </a:pathLst>
            </a:custGeom>
            <a:solidFill>
              <a:srgbClr val="DBE5EA"/>
            </a:solidFill>
          </p:spPr>
        </p:sp>
        <p:sp>
          <p:nvSpPr>
            <p:cNvPr name="TextBox 6" id="6"/>
            <p:cNvSpPr txBox="true"/>
            <p:nvPr/>
          </p:nvSpPr>
          <p:spPr>
            <a:xfrm>
              <a:off x="0" y="-123825"/>
              <a:ext cx="2591141" cy="2833158"/>
            </a:xfrm>
            <a:prstGeom prst="rect">
              <a:avLst/>
            </a:prstGeom>
          </p:spPr>
          <p:txBody>
            <a:bodyPr anchor="ctr" rtlCol="false" tIns="50800" lIns="50800" bIns="50800" rIns="50800"/>
            <a:lstStyle/>
            <a:p>
              <a:pPr algn="ctr">
                <a:lnSpc>
                  <a:spcPts val="4079"/>
                </a:lnSpc>
              </a:pPr>
            </a:p>
          </p:txBody>
        </p:sp>
      </p:grpSp>
      <p:sp>
        <p:nvSpPr>
          <p:cNvPr name="AutoShape 7" id="7"/>
          <p:cNvSpPr/>
          <p:nvPr/>
        </p:nvSpPr>
        <p:spPr>
          <a:xfrm>
            <a:off x="1028700" y="9741523"/>
            <a:ext cx="6492240" cy="0"/>
          </a:xfrm>
          <a:prstGeom prst="line">
            <a:avLst/>
          </a:prstGeom>
          <a:ln cap="flat" w="76200">
            <a:solidFill>
              <a:srgbClr val="0F4662"/>
            </a:solidFill>
            <a:prstDash val="solid"/>
            <a:headEnd type="none" len="sm" w="sm"/>
            <a:tailEnd type="none" len="sm" w="sm"/>
          </a:ln>
        </p:spPr>
      </p:sp>
      <p:sp>
        <p:nvSpPr>
          <p:cNvPr name="AutoShape 8" id="8"/>
          <p:cNvSpPr/>
          <p:nvPr/>
        </p:nvSpPr>
        <p:spPr>
          <a:xfrm>
            <a:off x="10767060" y="1028700"/>
            <a:ext cx="6492240" cy="0"/>
          </a:xfrm>
          <a:prstGeom prst="line">
            <a:avLst/>
          </a:prstGeom>
          <a:ln cap="flat" w="76200">
            <a:solidFill>
              <a:srgbClr val="0F4662"/>
            </a:solidFill>
            <a:prstDash val="solid"/>
            <a:headEnd type="none" len="sm" w="sm"/>
            <a:tailEnd type="none" len="sm" w="sm"/>
          </a:ln>
        </p:spPr>
      </p:sp>
      <p:sp>
        <p:nvSpPr>
          <p:cNvPr name="TextBox 9" id="9"/>
          <p:cNvSpPr txBox="true"/>
          <p:nvPr/>
        </p:nvSpPr>
        <p:spPr>
          <a:xfrm rot="0">
            <a:off x="735951" y="-146655"/>
            <a:ext cx="6784989" cy="992471"/>
          </a:xfrm>
          <a:prstGeom prst="rect">
            <a:avLst/>
          </a:prstGeom>
        </p:spPr>
        <p:txBody>
          <a:bodyPr anchor="t" rtlCol="false" tIns="0" lIns="0" bIns="0" rIns="0">
            <a:spAutoFit/>
          </a:bodyPr>
          <a:lstStyle/>
          <a:p>
            <a:pPr algn="l" marL="0" indent="0" lvl="0">
              <a:lnSpc>
                <a:spcPts val="8192"/>
              </a:lnSpc>
              <a:spcBef>
                <a:spcPct val="0"/>
              </a:spcBef>
            </a:pPr>
            <a:r>
              <a:rPr lang="en-US" b="true" sz="5851" i="true">
                <a:solidFill>
                  <a:srgbClr val="0F4662"/>
                </a:solidFill>
                <a:latin typeface="Cormorant Garamond Bold Italics"/>
                <a:ea typeface="Cormorant Garamond Bold Italics"/>
                <a:cs typeface="Cormorant Garamond Bold Italics"/>
                <a:sym typeface="Cormorant Garamond Bold Italics"/>
              </a:rPr>
              <a:t>Minimal Viable Product</a:t>
            </a:r>
          </a:p>
        </p:txBody>
      </p:sp>
      <p:sp>
        <p:nvSpPr>
          <p:cNvPr name="TextBox 10" id="10"/>
          <p:cNvSpPr txBox="true"/>
          <p:nvPr/>
        </p:nvSpPr>
        <p:spPr>
          <a:xfrm rot="0">
            <a:off x="8652617" y="2067877"/>
            <a:ext cx="7541013" cy="2215039"/>
          </a:xfrm>
          <a:prstGeom prst="rect">
            <a:avLst/>
          </a:prstGeom>
        </p:spPr>
        <p:txBody>
          <a:bodyPr anchor="t" rtlCol="false" tIns="0" lIns="0" bIns="0" rIns="0">
            <a:spAutoFit/>
          </a:bodyPr>
          <a:lstStyle/>
          <a:p>
            <a:pPr algn="l" marL="454002" indent="-227001" lvl="1">
              <a:lnSpc>
                <a:spcPts val="3574"/>
              </a:lnSpc>
              <a:buFont typeface="Arial"/>
              <a:buChar char="•"/>
            </a:pPr>
            <a:r>
              <a:rPr lang="en-US" sz="2102">
                <a:solidFill>
                  <a:srgbClr val="0F4662"/>
                </a:solidFill>
                <a:latin typeface="Quicksand"/>
                <a:ea typeface="Quicksand"/>
                <a:cs typeface="Quicksand"/>
                <a:sym typeface="Quicksand"/>
              </a:rPr>
              <a:t>Priority &amp; category</a:t>
            </a:r>
            <a:r>
              <a:rPr lang="en-US" sz="2102">
                <a:solidFill>
                  <a:srgbClr val="0F4662"/>
                </a:solidFill>
                <a:latin typeface="Quicksand"/>
                <a:ea typeface="Quicksand"/>
                <a:cs typeface="Quicksand"/>
                <a:sym typeface="Quicksand"/>
              </a:rPr>
              <a:t> classification</a:t>
            </a:r>
          </a:p>
          <a:p>
            <a:pPr algn="l" marL="454002" indent="-227001" lvl="1">
              <a:lnSpc>
                <a:spcPts val="3574"/>
              </a:lnSpc>
              <a:buFont typeface="Arial"/>
              <a:buChar char="•"/>
            </a:pPr>
            <a:r>
              <a:rPr lang="en-US" sz="2102">
                <a:solidFill>
                  <a:srgbClr val="0F4662"/>
                </a:solidFill>
                <a:latin typeface="Quicksand"/>
                <a:ea typeface="Quicksand"/>
                <a:cs typeface="Quicksand"/>
                <a:sym typeface="Quicksand"/>
              </a:rPr>
              <a:t>Assign technician via modal</a:t>
            </a:r>
          </a:p>
          <a:p>
            <a:pPr algn="l" marL="454002" indent="-227001" lvl="1">
              <a:lnSpc>
                <a:spcPts val="3574"/>
              </a:lnSpc>
              <a:buFont typeface="Arial"/>
              <a:buChar char="•"/>
            </a:pPr>
            <a:r>
              <a:rPr lang="en-US" sz="2102">
                <a:solidFill>
                  <a:srgbClr val="0F4662"/>
                </a:solidFill>
                <a:latin typeface="Quicksand"/>
                <a:ea typeface="Quicksand"/>
                <a:cs typeface="Quicksand"/>
                <a:sym typeface="Quicksand"/>
              </a:rPr>
              <a:t>Status transitions with audit log</a:t>
            </a:r>
          </a:p>
          <a:p>
            <a:pPr algn="l" marL="454002" indent="-227001" lvl="1">
              <a:lnSpc>
                <a:spcPts val="3574"/>
              </a:lnSpc>
              <a:buFont typeface="Arial"/>
              <a:buChar char="•"/>
            </a:pPr>
            <a:r>
              <a:rPr lang="en-US" sz="2102">
                <a:solidFill>
                  <a:srgbClr val="0F4662"/>
                </a:solidFill>
                <a:latin typeface="Quicksand"/>
                <a:ea typeface="Quicksand"/>
                <a:cs typeface="Quicksand"/>
                <a:sym typeface="Quicksand"/>
              </a:rPr>
              <a:t>Attachments + threaded comments</a:t>
            </a:r>
          </a:p>
          <a:p>
            <a:pPr algn="l">
              <a:lnSpc>
                <a:spcPts val="3574"/>
              </a:lnSpc>
            </a:pPr>
          </a:p>
        </p:txBody>
      </p:sp>
      <p:sp>
        <p:nvSpPr>
          <p:cNvPr name="TextBox 11" id="11"/>
          <p:cNvSpPr txBox="true"/>
          <p:nvPr/>
        </p:nvSpPr>
        <p:spPr>
          <a:xfrm rot="0">
            <a:off x="8652617" y="7614027"/>
            <a:ext cx="8606683" cy="20288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Line-item estimates linked to tickets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One-click convert to invoice</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PDF-ready detail pages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Status workflow: draft → approved</a:t>
            </a:r>
          </a:p>
        </p:txBody>
      </p:sp>
      <p:sp>
        <p:nvSpPr>
          <p:cNvPr name="TextBox 12" id="12"/>
          <p:cNvSpPr txBox="true"/>
          <p:nvPr/>
        </p:nvSpPr>
        <p:spPr>
          <a:xfrm rot="0">
            <a:off x="8652617" y="4613652"/>
            <a:ext cx="8606683" cy="20288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F4662"/>
                </a:solidFill>
                <a:latin typeface="Quicksand"/>
                <a:ea typeface="Quicksand"/>
                <a:cs typeface="Quicksand"/>
                <a:sym typeface="Quicksand"/>
              </a:rPr>
              <a:t>Admin: KPIs, ticket charts, revenue</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Technician: queue &amp; workload</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Finance: revenue &amp; payment stats</a:t>
            </a:r>
          </a:p>
          <a:p>
            <a:pPr algn="l" marL="518160" indent="-259080" lvl="1">
              <a:lnSpc>
                <a:spcPts val="4079"/>
              </a:lnSpc>
              <a:buFont typeface="Arial"/>
              <a:buChar char="•"/>
            </a:pPr>
            <a:r>
              <a:rPr lang="en-US" sz="2400">
                <a:solidFill>
                  <a:srgbClr val="0F4662"/>
                </a:solidFill>
                <a:latin typeface="Quicksand"/>
                <a:ea typeface="Quicksand"/>
                <a:cs typeface="Quicksand"/>
                <a:sym typeface="Quicksand"/>
              </a:rPr>
              <a:t>Customer: personal ticket feed</a:t>
            </a:r>
          </a:p>
        </p:txBody>
      </p:sp>
      <p:sp>
        <p:nvSpPr>
          <p:cNvPr name="TextBox 13" id="13"/>
          <p:cNvSpPr txBox="true"/>
          <p:nvPr/>
        </p:nvSpPr>
        <p:spPr>
          <a:xfrm rot="0">
            <a:off x="8652617" y="1561099"/>
            <a:ext cx="8606683" cy="1080230"/>
          </a:xfrm>
          <a:prstGeom prst="rect">
            <a:avLst/>
          </a:prstGeom>
        </p:spPr>
        <p:txBody>
          <a:bodyPr anchor="t" rtlCol="false" tIns="0" lIns="0" bIns="0" rIns="0">
            <a:spAutoFit/>
          </a:bodyPr>
          <a:lstStyle/>
          <a:p>
            <a:pPr algn="l">
              <a:lnSpc>
                <a:spcPts val="4485"/>
              </a:lnSpc>
            </a:pPr>
            <a:r>
              <a:rPr lang="en-US" sz="2638" b="true">
                <a:solidFill>
                  <a:srgbClr val="0F4662"/>
                </a:solidFill>
                <a:latin typeface="Quicksand Bold"/>
                <a:ea typeface="Quicksand Bold"/>
                <a:cs typeface="Quicksand Bold"/>
                <a:sym typeface="Quicksand Bold"/>
              </a:rPr>
              <a:t>🎫 Ticket Management</a:t>
            </a:r>
          </a:p>
          <a:p>
            <a:pPr algn="l" marL="0" indent="0" lvl="0">
              <a:lnSpc>
                <a:spcPts val="4485"/>
              </a:lnSpc>
            </a:pPr>
          </a:p>
        </p:txBody>
      </p:sp>
      <p:sp>
        <p:nvSpPr>
          <p:cNvPr name="TextBox 14" id="14"/>
          <p:cNvSpPr txBox="true"/>
          <p:nvPr/>
        </p:nvSpPr>
        <p:spPr>
          <a:xfrm rot="0">
            <a:off x="8652617" y="6981633"/>
            <a:ext cx="8606683" cy="1165225"/>
          </a:xfrm>
          <a:prstGeom prst="rect">
            <a:avLst/>
          </a:prstGeom>
        </p:spPr>
        <p:txBody>
          <a:bodyPr anchor="t" rtlCol="false" tIns="0" lIns="0" bIns="0" rIns="0">
            <a:spAutoFit/>
          </a:bodyPr>
          <a:lstStyle/>
          <a:p>
            <a:pPr algn="l">
              <a:lnSpc>
                <a:spcPts val="4759"/>
              </a:lnSpc>
            </a:pPr>
            <a:r>
              <a:rPr lang="en-US" sz="2799" b="true">
                <a:solidFill>
                  <a:srgbClr val="0F4662"/>
                </a:solidFill>
                <a:latin typeface="Quicksand Bold"/>
                <a:ea typeface="Quicksand Bold"/>
                <a:cs typeface="Quicksand Bold"/>
                <a:sym typeface="Quicksand Bold"/>
              </a:rPr>
              <a:t>📑 Estimates &amp; Invoices</a:t>
            </a:r>
          </a:p>
          <a:p>
            <a:pPr algn="l" marL="0" indent="0" lvl="0">
              <a:lnSpc>
                <a:spcPts val="4759"/>
              </a:lnSpc>
            </a:pPr>
          </a:p>
        </p:txBody>
      </p:sp>
      <p:sp>
        <p:nvSpPr>
          <p:cNvPr name="TextBox 15" id="15"/>
          <p:cNvSpPr txBox="true"/>
          <p:nvPr/>
        </p:nvSpPr>
        <p:spPr>
          <a:xfrm rot="0">
            <a:off x="8652617" y="4147270"/>
            <a:ext cx="8606683" cy="1080230"/>
          </a:xfrm>
          <a:prstGeom prst="rect">
            <a:avLst/>
          </a:prstGeom>
        </p:spPr>
        <p:txBody>
          <a:bodyPr anchor="t" rtlCol="false" tIns="0" lIns="0" bIns="0" rIns="0">
            <a:spAutoFit/>
          </a:bodyPr>
          <a:lstStyle/>
          <a:p>
            <a:pPr algn="l">
              <a:lnSpc>
                <a:spcPts val="4485"/>
              </a:lnSpc>
            </a:pPr>
            <a:r>
              <a:rPr lang="en-US" sz="2638" b="true">
                <a:solidFill>
                  <a:srgbClr val="0F4662"/>
                </a:solidFill>
                <a:latin typeface="Quicksand Bold"/>
                <a:ea typeface="Quicksand Bold"/>
                <a:cs typeface="Quicksand Bold"/>
                <a:sym typeface="Quicksand Bold"/>
              </a:rPr>
              <a:t>📊 Role Dashboards</a:t>
            </a:r>
          </a:p>
          <a:p>
            <a:pPr algn="l" marL="0" indent="0" lvl="0">
              <a:lnSpc>
                <a:spcPts val="4485"/>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3471374">
            <a:off x="1699256" y="-4872922"/>
            <a:ext cx="14152786" cy="20916321"/>
            <a:chOff x="0" y="0"/>
            <a:chExt cx="3727483" cy="5508825"/>
          </a:xfrm>
        </p:grpSpPr>
        <p:sp>
          <p:nvSpPr>
            <p:cNvPr name="Freeform 3" id="3"/>
            <p:cNvSpPr/>
            <p:nvPr/>
          </p:nvSpPr>
          <p:spPr>
            <a:xfrm flipH="false" flipV="false" rot="0">
              <a:off x="0" y="0"/>
              <a:ext cx="3727483" cy="5508825"/>
            </a:xfrm>
            <a:custGeom>
              <a:avLst/>
              <a:gdLst/>
              <a:ahLst/>
              <a:cxnLst/>
              <a:rect r="r" b="b" t="t" l="l"/>
              <a:pathLst>
                <a:path h="5508825" w="3727483">
                  <a:moveTo>
                    <a:pt x="0" y="0"/>
                  </a:moveTo>
                  <a:lnTo>
                    <a:pt x="3727483" y="0"/>
                  </a:lnTo>
                  <a:lnTo>
                    <a:pt x="3727483" y="5508825"/>
                  </a:lnTo>
                  <a:lnTo>
                    <a:pt x="0" y="5508825"/>
                  </a:lnTo>
                  <a:close/>
                </a:path>
              </a:pathLst>
            </a:custGeom>
            <a:solidFill>
              <a:srgbClr val="7994A0"/>
            </a:solidFill>
          </p:spPr>
        </p:sp>
        <p:sp>
          <p:nvSpPr>
            <p:cNvPr name="TextBox 4" id="4"/>
            <p:cNvSpPr txBox="true"/>
            <p:nvPr/>
          </p:nvSpPr>
          <p:spPr>
            <a:xfrm>
              <a:off x="0" y="-47625"/>
              <a:ext cx="3727483" cy="5556450"/>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0" y="113630"/>
            <a:ext cx="18288000" cy="1462630"/>
          </a:xfrm>
          <a:custGeom>
            <a:avLst/>
            <a:gdLst/>
            <a:ahLst/>
            <a:cxnLst/>
            <a:rect r="r" b="b" t="t" l="l"/>
            <a:pathLst>
              <a:path h="1462630" w="18288000">
                <a:moveTo>
                  <a:pt x="0" y="0"/>
                </a:moveTo>
                <a:lnTo>
                  <a:pt x="18288000" y="0"/>
                </a:lnTo>
                <a:lnTo>
                  <a:pt x="18288000" y="1462630"/>
                </a:lnTo>
                <a:lnTo>
                  <a:pt x="0" y="1462630"/>
                </a:lnTo>
                <a:lnTo>
                  <a:pt x="0" y="0"/>
                </a:lnTo>
                <a:close/>
              </a:path>
            </a:pathLst>
          </a:custGeom>
          <a:blipFill>
            <a:blip r:embed="rId2"/>
            <a:stretch>
              <a:fillRect l="0" t="-16424" r="0" b="-16424"/>
            </a:stretch>
          </a:blipFill>
        </p:spPr>
      </p:sp>
      <p:sp>
        <p:nvSpPr>
          <p:cNvPr name="Freeform 6" id="6"/>
          <p:cNvSpPr/>
          <p:nvPr/>
        </p:nvSpPr>
        <p:spPr>
          <a:xfrm flipH="false" flipV="false" rot="0">
            <a:off x="1065102" y="2087378"/>
            <a:ext cx="16194198" cy="7692244"/>
          </a:xfrm>
          <a:custGeom>
            <a:avLst/>
            <a:gdLst/>
            <a:ahLst/>
            <a:cxnLst/>
            <a:rect r="r" b="b" t="t" l="l"/>
            <a:pathLst>
              <a:path h="7692244" w="16194198">
                <a:moveTo>
                  <a:pt x="0" y="0"/>
                </a:moveTo>
                <a:lnTo>
                  <a:pt x="16194198" y="0"/>
                </a:lnTo>
                <a:lnTo>
                  <a:pt x="16194198" y="7692245"/>
                </a:lnTo>
                <a:lnTo>
                  <a:pt x="0" y="7692245"/>
                </a:lnTo>
                <a:lnTo>
                  <a:pt x="0" y="0"/>
                </a:lnTo>
                <a:close/>
              </a:path>
            </a:pathLst>
          </a:custGeom>
          <a:blipFill>
            <a:blip r:embed="rId3"/>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056300"/>
            <a:chOff x="0" y="0"/>
            <a:chExt cx="4816593" cy="2648573"/>
          </a:xfrm>
        </p:grpSpPr>
        <p:sp>
          <p:nvSpPr>
            <p:cNvPr name="Freeform 3" id="3"/>
            <p:cNvSpPr/>
            <p:nvPr/>
          </p:nvSpPr>
          <p:spPr>
            <a:xfrm flipH="false" flipV="false" rot="0">
              <a:off x="0" y="0"/>
              <a:ext cx="4816592" cy="2648573"/>
            </a:xfrm>
            <a:custGeom>
              <a:avLst/>
              <a:gdLst/>
              <a:ahLst/>
              <a:cxnLst/>
              <a:rect r="r" b="b" t="t" l="l"/>
              <a:pathLst>
                <a:path h="2648573" w="4816592">
                  <a:moveTo>
                    <a:pt x="0" y="0"/>
                  </a:moveTo>
                  <a:lnTo>
                    <a:pt x="4816592" y="0"/>
                  </a:lnTo>
                  <a:lnTo>
                    <a:pt x="4816592" y="2648573"/>
                  </a:lnTo>
                  <a:lnTo>
                    <a:pt x="0" y="2648573"/>
                  </a:lnTo>
                  <a:close/>
                </a:path>
              </a:pathLst>
            </a:custGeom>
            <a:solidFill>
              <a:srgbClr val="DBE5EA"/>
            </a:solidFill>
          </p:spPr>
        </p:sp>
        <p:sp>
          <p:nvSpPr>
            <p:cNvPr name="TextBox 4" id="4"/>
            <p:cNvSpPr txBox="true"/>
            <p:nvPr/>
          </p:nvSpPr>
          <p:spPr>
            <a:xfrm>
              <a:off x="0" y="-47625"/>
              <a:ext cx="4816593" cy="2696198"/>
            </a:xfrm>
            <a:prstGeom prst="rect">
              <a:avLst/>
            </a:prstGeom>
          </p:spPr>
          <p:txBody>
            <a:bodyPr anchor="ctr" rtlCol="false" tIns="50800" lIns="50800" bIns="50800" rIns="50800"/>
            <a:lstStyle/>
            <a:p>
              <a:pPr algn="ctr">
                <a:lnSpc>
                  <a:spcPts val="3693"/>
                </a:lnSpc>
              </a:pPr>
            </a:p>
          </p:txBody>
        </p:sp>
      </p:grpSp>
      <p:sp>
        <p:nvSpPr>
          <p:cNvPr name="TextBox 5" id="5"/>
          <p:cNvSpPr txBox="true"/>
          <p:nvPr/>
        </p:nvSpPr>
        <p:spPr>
          <a:xfrm rot="0">
            <a:off x="7643086" y="428942"/>
            <a:ext cx="3001827"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Diagrams</a:t>
            </a:r>
          </a:p>
        </p:txBody>
      </p:sp>
      <p:grpSp>
        <p:nvGrpSpPr>
          <p:cNvPr name="Group 6" id="6"/>
          <p:cNvGrpSpPr/>
          <p:nvPr/>
        </p:nvGrpSpPr>
        <p:grpSpPr>
          <a:xfrm rot="0">
            <a:off x="2356443" y="5771444"/>
            <a:ext cx="810923" cy="81092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7994A0"/>
            </a:solidFill>
          </p:spPr>
        </p:sp>
        <p:sp>
          <p:nvSpPr>
            <p:cNvPr name="TextBox 8" id="8"/>
            <p:cNvSpPr txBox="true"/>
            <p:nvPr/>
          </p:nvSpPr>
          <p:spPr>
            <a:xfrm>
              <a:off x="0" y="79375"/>
              <a:ext cx="711200" cy="530225"/>
            </a:xfrm>
            <a:prstGeom prst="rect">
              <a:avLst/>
            </a:prstGeom>
          </p:spPr>
          <p:txBody>
            <a:bodyPr anchor="ctr" rtlCol="false" tIns="50800" lIns="50800" bIns="50800" rIns="50800"/>
            <a:lstStyle/>
            <a:p>
              <a:pPr algn="ctr">
                <a:lnSpc>
                  <a:spcPts val="4079"/>
                </a:lnSpc>
              </a:pPr>
            </a:p>
          </p:txBody>
        </p:sp>
      </p:grpSp>
      <p:grpSp>
        <p:nvGrpSpPr>
          <p:cNvPr name="Group 9" id="9"/>
          <p:cNvGrpSpPr/>
          <p:nvPr/>
        </p:nvGrpSpPr>
        <p:grpSpPr>
          <a:xfrm rot="0">
            <a:off x="2356443" y="6975807"/>
            <a:ext cx="810923" cy="810923"/>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A9BECB"/>
            </a:solidFill>
          </p:spPr>
        </p:sp>
        <p:sp>
          <p:nvSpPr>
            <p:cNvPr name="TextBox 11" id="11"/>
            <p:cNvSpPr txBox="true"/>
            <p:nvPr/>
          </p:nvSpPr>
          <p:spPr>
            <a:xfrm>
              <a:off x="0" y="79375"/>
              <a:ext cx="711200" cy="530225"/>
            </a:xfrm>
            <a:prstGeom prst="rect">
              <a:avLst/>
            </a:prstGeom>
          </p:spPr>
          <p:txBody>
            <a:bodyPr anchor="ctr" rtlCol="false" tIns="50800" lIns="50800" bIns="50800" rIns="50800"/>
            <a:lstStyle/>
            <a:p>
              <a:pPr algn="ctr">
                <a:lnSpc>
                  <a:spcPts val="4079"/>
                </a:lnSpc>
              </a:pPr>
            </a:p>
          </p:txBody>
        </p:sp>
      </p:grpSp>
      <p:grpSp>
        <p:nvGrpSpPr>
          <p:cNvPr name="Group 12" id="12"/>
          <p:cNvGrpSpPr/>
          <p:nvPr/>
        </p:nvGrpSpPr>
        <p:grpSpPr>
          <a:xfrm rot="0">
            <a:off x="2356443" y="8180171"/>
            <a:ext cx="810923" cy="810923"/>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A9BECB"/>
            </a:solidFill>
          </p:spPr>
        </p:sp>
        <p:sp>
          <p:nvSpPr>
            <p:cNvPr name="TextBox 14" id="14"/>
            <p:cNvSpPr txBox="true"/>
            <p:nvPr/>
          </p:nvSpPr>
          <p:spPr>
            <a:xfrm>
              <a:off x="0" y="79375"/>
              <a:ext cx="711200" cy="530225"/>
            </a:xfrm>
            <a:prstGeom prst="rect">
              <a:avLst/>
            </a:prstGeom>
          </p:spPr>
          <p:txBody>
            <a:bodyPr anchor="ctr" rtlCol="false" tIns="50800" lIns="50800" bIns="50800" rIns="50800"/>
            <a:lstStyle/>
            <a:p>
              <a:pPr algn="ctr">
                <a:lnSpc>
                  <a:spcPts val="4079"/>
                </a:lnSpc>
              </a:pPr>
            </a:p>
          </p:txBody>
        </p:sp>
      </p:grpSp>
      <p:sp>
        <p:nvSpPr>
          <p:cNvPr name="TextBox 15" id="15"/>
          <p:cNvSpPr txBox="true"/>
          <p:nvPr/>
        </p:nvSpPr>
        <p:spPr>
          <a:xfrm rot="0">
            <a:off x="3567378" y="5940685"/>
            <a:ext cx="4693075" cy="415290"/>
          </a:xfrm>
          <a:prstGeom prst="rect">
            <a:avLst/>
          </a:prstGeom>
        </p:spPr>
        <p:txBody>
          <a:bodyPr anchor="t" rtlCol="false" tIns="0" lIns="0" bIns="0" rIns="0">
            <a:spAutoFit/>
          </a:bodyPr>
          <a:lstStyle/>
          <a:p>
            <a:pPr algn="l">
              <a:lnSpc>
                <a:spcPts val="3359"/>
              </a:lnSpc>
            </a:pPr>
            <a:r>
              <a:rPr lang="en-US" sz="2400">
                <a:solidFill>
                  <a:srgbClr val="0F4662"/>
                </a:solidFill>
                <a:latin typeface="Quicksand"/>
                <a:ea typeface="Quicksand"/>
                <a:cs typeface="Quicksand"/>
                <a:sym typeface="Quicksand"/>
              </a:rPr>
              <a:t>Architecture Diagram</a:t>
            </a:r>
          </a:p>
        </p:txBody>
      </p:sp>
      <p:sp>
        <p:nvSpPr>
          <p:cNvPr name="TextBox 16" id="16"/>
          <p:cNvSpPr txBox="true"/>
          <p:nvPr/>
        </p:nvSpPr>
        <p:spPr>
          <a:xfrm rot="0">
            <a:off x="3567378" y="7145049"/>
            <a:ext cx="4693075" cy="415290"/>
          </a:xfrm>
          <a:prstGeom prst="rect">
            <a:avLst/>
          </a:prstGeom>
        </p:spPr>
        <p:txBody>
          <a:bodyPr anchor="t" rtlCol="false" tIns="0" lIns="0" bIns="0" rIns="0">
            <a:spAutoFit/>
          </a:bodyPr>
          <a:lstStyle/>
          <a:p>
            <a:pPr algn="l">
              <a:lnSpc>
                <a:spcPts val="3359"/>
              </a:lnSpc>
            </a:pPr>
            <a:r>
              <a:rPr lang="en-US" sz="2400">
                <a:solidFill>
                  <a:srgbClr val="0F4662"/>
                </a:solidFill>
                <a:latin typeface="Quicksand"/>
                <a:ea typeface="Quicksand"/>
                <a:cs typeface="Quicksand"/>
                <a:sym typeface="Quicksand"/>
              </a:rPr>
              <a:t>Context Diagram</a:t>
            </a:r>
          </a:p>
        </p:txBody>
      </p:sp>
      <p:sp>
        <p:nvSpPr>
          <p:cNvPr name="TextBox 17" id="17"/>
          <p:cNvSpPr txBox="true"/>
          <p:nvPr/>
        </p:nvSpPr>
        <p:spPr>
          <a:xfrm rot="0">
            <a:off x="3567378" y="8349412"/>
            <a:ext cx="4693075" cy="415290"/>
          </a:xfrm>
          <a:prstGeom prst="rect">
            <a:avLst/>
          </a:prstGeom>
        </p:spPr>
        <p:txBody>
          <a:bodyPr anchor="t" rtlCol="false" tIns="0" lIns="0" bIns="0" rIns="0">
            <a:spAutoFit/>
          </a:bodyPr>
          <a:lstStyle/>
          <a:p>
            <a:pPr algn="l">
              <a:lnSpc>
                <a:spcPts val="3359"/>
              </a:lnSpc>
            </a:pPr>
            <a:r>
              <a:rPr lang="en-US" sz="2400">
                <a:solidFill>
                  <a:srgbClr val="0F4662"/>
                </a:solidFill>
                <a:latin typeface="Quicksand"/>
                <a:ea typeface="Quicksand"/>
                <a:cs typeface="Quicksand"/>
                <a:sym typeface="Quicksand"/>
              </a:rPr>
              <a:t>ER Diagram</a:t>
            </a:r>
          </a:p>
        </p:txBody>
      </p:sp>
      <p:grpSp>
        <p:nvGrpSpPr>
          <p:cNvPr name="Group 18" id="18"/>
          <p:cNvGrpSpPr/>
          <p:nvPr/>
        </p:nvGrpSpPr>
        <p:grpSpPr>
          <a:xfrm rot="0">
            <a:off x="10508169" y="5771444"/>
            <a:ext cx="810923" cy="81092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7994A0"/>
            </a:solidFill>
          </p:spPr>
        </p:sp>
        <p:sp>
          <p:nvSpPr>
            <p:cNvPr name="TextBox 20" id="20"/>
            <p:cNvSpPr txBox="true"/>
            <p:nvPr/>
          </p:nvSpPr>
          <p:spPr>
            <a:xfrm>
              <a:off x="0" y="79375"/>
              <a:ext cx="711200" cy="530225"/>
            </a:xfrm>
            <a:prstGeom prst="rect">
              <a:avLst/>
            </a:prstGeom>
          </p:spPr>
          <p:txBody>
            <a:bodyPr anchor="ctr" rtlCol="false" tIns="50800" lIns="50800" bIns="50800" rIns="50800"/>
            <a:lstStyle/>
            <a:p>
              <a:pPr algn="ctr">
                <a:lnSpc>
                  <a:spcPts val="4079"/>
                </a:lnSpc>
              </a:pPr>
            </a:p>
          </p:txBody>
        </p:sp>
      </p:grpSp>
      <p:grpSp>
        <p:nvGrpSpPr>
          <p:cNvPr name="Group 21" id="21"/>
          <p:cNvGrpSpPr/>
          <p:nvPr/>
        </p:nvGrpSpPr>
        <p:grpSpPr>
          <a:xfrm rot="0">
            <a:off x="10508169" y="6975807"/>
            <a:ext cx="810923" cy="810923"/>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A9BECB"/>
            </a:solidFill>
          </p:spPr>
        </p:sp>
        <p:sp>
          <p:nvSpPr>
            <p:cNvPr name="TextBox 23" id="23"/>
            <p:cNvSpPr txBox="true"/>
            <p:nvPr/>
          </p:nvSpPr>
          <p:spPr>
            <a:xfrm>
              <a:off x="0" y="79375"/>
              <a:ext cx="711200" cy="530225"/>
            </a:xfrm>
            <a:prstGeom prst="rect">
              <a:avLst/>
            </a:prstGeom>
          </p:spPr>
          <p:txBody>
            <a:bodyPr anchor="ctr" rtlCol="false" tIns="50800" lIns="50800" bIns="50800" rIns="50800"/>
            <a:lstStyle/>
            <a:p>
              <a:pPr algn="ctr">
                <a:lnSpc>
                  <a:spcPts val="4079"/>
                </a:lnSpc>
              </a:pPr>
            </a:p>
          </p:txBody>
        </p:sp>
      </p:grpSp>
      <p:grpSp>
        <p:nvGrpSpPr>
          <p:cNvPr name="Group 24" id="24"/>
          <p:cNvGrpSpPr/>
          <p:nvPr/>
        </p:nvGrpSpPr>
        <p:grpSpPr>
          <a:xfrm rot="0">
            <a:off x="10508169" y="8180171"/>
            <a:ext cx="810923" cy="810923"/>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A9BECB"/>
            </a:solidFill>
          </p:spPr>
        </p:sp>
        <p:sp>
          <p:nvSpPr>
            <p:cNvPr name="TextBox 26" id="26"/>
            <p:cNvSpPr txBox="true"/>
            <p:nvPr/>
          </p:nvSpPr>
          <p:spPr>
            <a:xfrm>
              <a:off x="0" y="79375"/>
              <a:ext cx="711200" cy="530225"/>
            </a:xfrm>
            <a:prstGeom prst="rect">
              <a:avLst/>
            </a:prstGeom>
          </p:spPr>
          <p:txBody>
            <a:bodyPr anchor="ctr" rtlCol="false" tIns="50800" lIns="50800" bIns="50800" rIns="50800"/>
            <a:lstStyle/>
            <a:p>
              <a:pPr algn="ctr">
                <a:lnSpc>
                  <a:spcPts val="4079"/>
                </a:lnSpc>
              </a:pPr>
            </a:p>
          </p:txBody>
        </p:sp>
      </p:grpSp>
      <p:sp>
        <p:nvSpPr>
          <p:cNvPr name="TextBox 27" id="27"/>
          <p:cNvSpPr txBox="true"/>
          <p:nvPr/>
        </p:nvSpPr>
        <p:spPr>
          <a:xfrm rot="0">
            <a:off x="11719104" y="5940685"/>
            <a:ext cx="4693075" cy="415290"/>
          </a:xfrm>
          <a:prstGeom prst="rect">
            <a:avLst/>
          </a:prstGeom>
        </p:spPr>
        <p:txBody>
          <a:bodyPr anchor="t" rtlCol="false" tIns="0" lIns="0" bIns="0" rIns="0">
            <a:spAutoFit/>
          </a:bodyPr>
          <a:lstStyle/>
          <a:p>
            <a:pPr algn="l">
              <a:lnSpc>
                <a:spcPts val="3359"/>
              </a:lnSpc>
            </a:pPr>
            <a:r>
              <a:rPr lang="en-US" sz="2400">
                <a:solidFill>
                  <a:srgbClr val="0F4662"/>
                </a:solidFill>
                <a:latin typeface="Quicksand"/>
                <a:ea typeface="Quicksand"/>
                <a:cs typeface="Quicksand"/>
                <a:sym typeface="Quicksand"/>
              </a:rPr>
              <a:t>Sequence Diagram</a:t>
            </a:r>
          </a:p>
        </p:txBody>
      </p:sp>
      <p:sp>
        <p:nvSpPr>
          <p:cNvPr name="TextBox 28" id="28"/>
          <p:cNvSpPr txBox="true"/>
          <p:nvPr/>
        </p:nvSpPr>
        <p:spPr>
          <a:xfrm rot="0">
            <a:off x="11719104" y="7145049"/>
            <a:ext cx="4693075" cy="415290"/>
          </a:xfrm>
          <a:prstGeom prst="rect">
            <a:avLst/>
          </a:prstGeom>
        </p:spPr>
        <p:txBody>
          <a:bodyPr anchor="t" rtlCol="false" tIns="0" lIns="0" bIns="0" rIns="0">
            <a:spAutoFit/>
          </a:bodyPr>
          <a:lstStyle/>
          <a:p>
            <a:pPr algn="l">
              <a:lnSpc>
                <a:spcPts val="3359"/>
              </a:lnSpc>
            </a:pPr>
            <a:r>
              <a:rPr lang="en-US" sz="2400">
                <a:solidFill>
                  <a:srgbClr val="0F4662"/>
                </a:solidFill>
                <a:latin typeface="Quicksand"/>
                <a:ea typeface="Quicksand"/>
                <a:cs typeface="Quicksand"/>
                <a:sym typeface="Quicksand"/>
              </a:rPr>
              <a:t>State Diagram</a:t>
            </a:r>
          </a:p>
        </p:txBody>
      </p:sp>
      <p:sp>
        <p:nvSpPr>
          <p:cNvPr name="TextBox 29" id="29"/>
          <p:cNvSpPr txBox="true"/>
          <p:nvPr/>
        </p:nvSpPr>
        <p:spPr>
          <a:xfrm rot="0">
            <a:off x="11719104" y="8349412"/>
            <a:ext cx="4693075" cy="415290"/>
          </a:xfrm>
          <a:prstGeom prst="rect">
            <a:avLst/>
          </a:prstGeom>
        </p:spPr>
        <p:txBody>
          <a:bodyPr anchor="t" rtlCol="false" tIns="0" lIns="0" bIns="0" rIns="0">
            <a:spAutoFit/>
          </a:bodyPr>
          <a:lstStyle/>
          <a:p>
            <a:pPr algn="l">
              <a:lnSpc>
                <a:spcPts val="3359"/>
              </a:lnSpc>
            </a:pPr>
            <a:r>
              <a:rPr lang="en-US" sz="2400">
                <a:solidFill>
                  <a:srgbClr val="0F4662"/>
                </a:solidFill>
                <a:latin typeface="Quicksand"/>
                <a:ea typeface="Quicksand"/>
                <a:cs typeface="Quicksand"/>
                <a:sym typeface="Quicksand"/>
              </a:rPr>
              <a:t>Class Diagram</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4099486"/>
            <a:chOff x="0" y="0"/>
            <a:chExt cx="4816593" cy="1079700"/>
          </a:xfrm>
        </p:grpSpPr>
        <p:sp>
          <p:nvSpPr>
            <p:cNvPr name="Freeform 3" id="3"/>
            <p:cNvSpPr/>
            <p:nvPr/>
          </p:nvSpPr>
          <p:spPr>
            <a:xfrm flipH="false" flipV="false" rot="0">
              <a:off x="0" y="0"/>
              <a:ext cx="4816592" cy="1079700"/>
            </a:xfrm>
            <a:custGeom>
              <a:avLst/>
              <a:gdLst/>
              <a:ahLst/>
              <a:cxnLst/>
              <a:rect r="r" b="b" t="t" l="l"/>
              <a:pathLst>
                <a:path h="1079700" w="4816592">
                  <a:moveTo>
                    <a:pt x="0" y="0"/>
                  </a:moveTo>
                  <a:lnTo>
                    <a:pt x="4816592" y="0"/>
                  </a:lnTo>
                  <a:lnTo>
                    <a:pt x="4816592" y="1079700"/>
                  </a:lnTo>
                  <a:lnTo>
                    <a:pt x="0" y="1079700"/>
                  </a:lnTo>
                  <a:close/>
                </a:path>
              </a:pathLst>
            </a:custGeom>
            <a:solidFill>
              <a:srgbClr val="DBE5EA"/>
            </a:solidFill>
          </p:spPr>
        </p:sp>
        <p:sp>
          <p:nvSpPr>
            <p:cNvPr name="TextBox 4" id="4"/>
            <p:cNvSpPr txBox="true"/>
            <p:nvPr/>
          </p:nvSpPr>
          <p:spPr>
            <a:xfrm>
              <a:off x="0" y="-47625"/>
              <a:ext cx="4816593" cy="1127325"/>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4366516" y="2294925"/>
            <a:ext cx="9479281" cy="5697150"/>
          </a:xfrm>
          <a:custGeom>
            <a:avLst/>
            <a:gdLst/>
            <a:ahLst/>
            <a:cxnLst/>
            <a:rect r="r" b="b" t="t" l="l"/>
            <a:pathLst>
              <a:path h="5697150" w="9479281">
                <a:moveTo>
                  <a:pt x="0" y="0"/>
                </a:moveTo>
                <a:lnTo>
                  <a:pt x="9479281" y="0"/>
                </a:lnTo>
                <a:lnTo>
                  <a:pt x="9479281" y="5697150"/>
                </a:lnTo>
                <a:lnTo>
                  <a:pt x="0" y="5697150"/>
                </a:lnTo>
                <a:lnTo>
                  <a:pt x="0" y="0"/>
                </a:lnTo>
                <a:close/>
              </a:path>
            </a:pathLst>
          </a:custGeom>
          <a:blipFill>
            <a:blip r:embed="rId2"/>
            <a:stretch>
              <a:fillRect l="0" t="0" r="-798" b="0"/>
            </a:stretch>
          </a:blipFill>
        </p:spPr>
      </p:sp>
      <p:sp>
        <p:nvSpPr>
          <p:cNvPr name="TextBox 6" id="6"/>
          <p:cNvSpPr txBox="true"/>
          <p:nvPr/>
        </p:nvSpPr>
        <p:spPr>
          <a:xfrm rot="0">
            <a:off x="5718215" y="599709"/>
            <a:ext cx="6851569"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Architecture Diagram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6187514"/>
            <a:ext cx="18288000" cy="4099486"/>
            <a:chOff x="0" y="0"/>
            <a:chExt cx="4816593" cy="1079700"/>
          </a:xfrm>
        </p:grpSpPr>
        <p:sp>
          <p:nvSpPr>
            <p:cNvPr name="Freeform 3" id="3"/>
            <p:cNvSpPr/>
            <p:nvPr/>
          </p:nvSpPr>
          <p:spPr>
            <a:xfrm flipH="false" flipV="false" rot="0">
              <a:off x="0" y="0"/>
              <a:ext cx="4816592" cy="1079700"/>
            </a:xfrm>
            <a:custGeom>
              <a:avLst/>
              <a:gdLst/>
              <a:ahLst/>
              <a:cxnLst/>
              <a:rect r="r" b="b" t="t" l="l"/>
              <a:pathLst>
                <a:path h="1079700" w="4816592">
                  <a:moveTo>
                    <a:pt x="0" y="0"/>
                  </a:moveTo>
                  <a:lnTo>
                    <a:pt x="4816592" y="0"/>
                  </a:lnTo>
                  <a:lnTo>
                    <a:pt x="4816592" y="1079700"/>
                  </a:lnTo>
                  <a:lnTo>
                    <a:pt x="0" y="1079700"/>
                  </a:lnTo>
                  <a:close/>
                </a:path>
              </a:pathLst>
            </a:custGeom>
            <a:solidFill>
              <a:srgbClr val="DBE5EA"/>
            </a:solidFill>
          </p:spPr>
        </p:sp>
        <p:sp>
          <p:nvSpPr>
            <p:cNvPr name="TextBox 4" id="4"/>
            <p:cNvSpPr txBox="true"/>
            <p:nvPr/>
          </p:nvSpPr>
          <p:spPr>
            <a:xfrm>
              <a:off x="0" y="-47625"/>
              <a:ext cx="4816593" cy="1127325"/>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3893767" y="2255607"/>
            <a:ext cx="10678682" cy="6731677"/>
          </a:xfrm>
          <a:custGeom>
            <a:avLst/>
            <a:gdLst/>
            <a:ahLst/>
            <a:cxnLst/>
            <a:rect r="r" b="b" t="t" l="l"/>
            <a:pathLst>
              <a:path h="6731677" w="10678682">
                <a:moveTo>
                  <a:pt x="0" y="0"/>
                </a:moveTo>
                <a:lnTo>
                  <a:pt x="10678683" y="0"/>
                </a:lnTo>
                <a:lnTo>
                  <a:pt x="10678683" y="6731677"/>
                </a:lnTo>
                <a:lnTo>
                  <a:pt x="0" y="6731677"/>
                </a:lnTo>
                <a:lnTo>
                  <a:pt x="0" y="0"/>
                </a:lnTo>
                <a:close/>
              </a:path>
            </a:pathLst>
          </a:custGeom>
          <a:blipFill>
            <a:blip r:embed="rId2"/>
            <a:stretch>
              <a:fillRect l="-3439" t="-8297" r="-3439" b="0"/>
            </a:stretch>
          </a:blipFill>
        </p:spPr>
      </p:sp>
      <p:sp>
        <p:nvSpPr>
          <p:cNvPr name="TextBox 6" id="6"/>
          <p:cNvSpPr txBox="true"/>
          <p:nvPr/>
        </p:nvSpPr>
        <p:spPr>
          <a:xfrm rot="0">
            <a:off x="6576897" y="599709"/>
            <a:ext cx="5134205"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Context Diagram</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4099486"/>
            <a:chOff x="0" y="0"/>
            <a:chExt cx="4816593" cy="1079700"/>
          </a:xfrm>
        </p:grpSpPr>
        <p:sp>
          <p:nvSpPr>
            <p:cNvPr name="Freeform 3" id="3"/>
            <p:cNvSpPr/>
            <p:nvPr/>
          </p:nvSpPr>
          <p:spPr>
            <a:xfrm flipH="false" flipV="false" rot="0">
              <a:off x="0" y="0"/>
              <a:ext cx="4816592" cy="1079700"/>
            </a:xfrm>
            <a:custGeom>
              <a:avLst/>
              <a:gdLst/>
              <a:ahLst/>
              <a:cxnLst/>
              <a:rect r="r" b="b" t="t" l="l"/>
              <a:pathLst>
                <a:path h="1079700" w="4816592">
                  <a:moveTo>
                    <a:pt x="0" y="0"/>
                  </a:moveTo>
                  <a:lnTo>
                    <a:pt x="4816592" y="0"/>
                  </a:lnTo>
                  <a:lnTo>
                    <a:pt x="4816592" y="1079700"/>
                  </a:lnTo>
                  <a:lnTo>
                    <a:pt x="0" y="1079700"/>
                  </a:lnTo>
                  <a:close/>
                </a:path>
              </a:pathLst>
            </a:custGeom>
            <a:solidFill>
              <a:srgbClr val="DBE5EA"/>
            </a:solidFill>
          </p:spPr>
        </p:sp>
        <p:sp>
          <p:nvSpPr>
            <p:cNvPr name="TextBox 4" id="4"/>
            <p:cNvSpPr txBox="true"/>
            <p:nvPr/>
          </p:nvSpPr>
          <p:spPr>
            <a:xfrm>
              <a:off x="0" y="-47625"/>
              <a:ext cx="4816593" cy="1127325"/>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3639793" y="1839805"/>
            <a:ext cx="11008413" cy="7939818"/>
          </a:xfrm>
          <a:custGeom>
            <a:avLst/>
            <a:gdLst/>
            <a:ahLst/>
            <a:cxnLst/>
            <a:rect r="r" b="b" t="t" l="l"/>
            <a:pathLst>
              <a:path h="7939818" w="11008413">
                <a:moveTo>
                  <a:pt x="0" y="0"/>
                </a:moveTo>
                <a:lnTo>
                  <a:pt x="11008414" y="0"/>
                </a:lnTo>
                <a:lnTo>
                  <a:pt x="11008414" y="7939818"/>
                </a:lnTo>
                <a:lnTo>
                  <a:pt x="0" y="7939818"/>
                </a:lnTo>
                <a:lnTo>
                  <a:pt x="0" y="0"/>
                </a:lnTo>
                <a:close/>
              </a:path>
            </a:pathLst>
          </a:custGeom>
          <a:blipFill>
            <a:blip r:embed="rId2"/>
            <a:stretch>
              <a:fillRect l="0" t="0" r="0" b="0"/>
            </a:stretch>
          </a:blipFill>
        </p:spPr>
      </p:sp>
      <p:sp>
        <p:nvSpPr>
          <p:cNvPr name="TextBox 6" id="6"/>
          <p:cNvSpPr txBox="true"/>
          <p:nvPr/>
        </p:nvSpPr>
        <p:spPr>
          <a:xfrm rot="0">
            <a:off x="7222342" y="599709"/>
            <a:ext cx="3843316"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ER Diagram</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6676621"/>
            <a:ext cx="18288000" cy="4099486"/>
            <a:chOff x="0" y="0"/>
            <a:chExt cx="4816593" cy="1079700"/>
          </a:xfrm>
        </p:grpSpPr>
        <p:sp>
          <p:nvSpPr>
            <p:cNvPr name="Freeform 3" id="3"/>
            <p:cNvSpPr/>
            <p:nvPr/>
          </p:nvSpPr>
          <p:spPr>
            <a:xfrm flipH="false" flipV="false" rot="0">
              <a:off x="0" y="0"/>
              <a:ext cx="4816592" cy="1079700"/>
            </a:xfrm>
            <a:custGeom>
              <a:avLst/>
              <a:gdLst/>
              <a:ahLst/>
              <a:cxnLst/>
              <a:rect r="r" b="b" t="t" l="l"/>
              <a:pathLst>
                <a:path h="1079700" w="4816592">
                  <a:moveTo>
                    <a:pt x="0" y="0"/>
                  </a:moveTo>
                  <a:lnTo>
                    <a:pt x="4816592" y="0"/>
                  </a:lnTo>
                  <a:lnTo>
                    <a:pt x="4816592" y="1079700"/>
                  </a:lnTo>
                  <a:lnTo>
                    <a:pt x="0" y="1079700"/>
                  </a:lnTo>
                  <a:close/>
                </a:path>
              </a:pathLst>
            </a:custGeom>
            <a:solidFill>
              <a:srgbClr val="DBE5EA"/>
            </a:solidFill>
          </p:spPr>
        </p:sp>
        <p:sp>
          <p:nvSpPr>
            <p:cNvPr name="TextBox 4" id="4"/>
            <p:cNvSpPr txBox="true"/>
            <p:nvPr/>
          </p:nvSpPr>
          <p:spPr>
            <a:xfrm>
              <a:off x="0" y="-47625"/>
              <a:ext cx="4816593" cy="1127325"/>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3476607" y="1684924"/>
            <a:ext cx="11334786" cy="8426555"/>
          </a:xfrm>
          <a:custGeom>
            <a:avLst/>
            <a:gdLst/>
            <a:ahLst/>
            <a:cxnLst/>
            <a:rect r="r" b="b" t="t" l="l"/>
            <a:pathLst>
              <a:path h="8426555" w="11334786">
                <a:moveTo>
                  <a:pt x="0" y="0"/>
                </a:moveTo>
                <a:lnTo>
                  <a:pt x="11334786" y="0"/>
                </a:lnTo>
                <a:lnTo>
                  <a:pt x="11334786" y="8426556"/>
                </a:lnTo>
                <a:lnTo>
                  <a:pt x="0" y="8426556"/>
                </a:lnTo>
                <a:lnTo>
                  <a:pt x="0" y="0"/>
                </a:lnTo>
                <a:close/>
              </a:path>
            </a:pathLst>
          </a:custGeom>
          <a:blipFill>
            <a:blip r:embed="rId2"/>
            <a:stretch>
              <a:fillRect l="0" t="-4141" r="0" b="-4141"/>
            </a:stretch>
          </a:blipFill>
        </p:spPr>
      </p:sp>
      <p:sp>
        <p:nvSpPr>
          <p:cNvPr name="TextBox 6" id="6"/>
          <p:cNvSpPr txBox="true"/>
          <p:nvPr/>
        </p:nvSpPr>
        <p:spPr>
          <a:xfrm rot="0">
            <a:off x="6114489" y="599709"/>
            <a:ext cx="605902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Sequence  Diagram</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4099486"/>
            <a:chOff x="0" y="0"/>
            <a:chExt cx="4816593" cy="1079700"/>
          </a:xfrm>
        </p:grpSpPr>
        <p:sp>
          <p:nvSpPr>
            <p:cNvPr name="Freeform 3" id="3"/>
            <p:cNvSpPr/>
            <p:nvPr/>
          </p:nvSpPr>
          <p:spPr>
            <a:xfrm flipH="false" flipV="false" rot="0">
              <a:off x="0" y="0"/>
              <a:ext cx="4816592" cy="1079700"/>
            </a:xfrm>
            <a:custGeom>
              <a:avLst/>
              <a:gdLst/>
              <a:ahLst/>
              <a:cxnLst/>
              <a:rect r="r" b="b" t="t" l="l"/>
              <a:pathLst>
                <a:path h="1079700" w="4816592">
                  <a:moveTo>
                    <a:pt x="0" y="0"/>
                  </a:moveTo>
                  <a:lnTo>
                    <a:pt x="4816592" y="0"/>
                  </a:lnTo>
                  <a:lnTo>
                    <a:pt x="4816592" y="1079700"/>
                  </a:lnTo>
                  <a:lnTo>
                    <a:pt x="0" y="1079700"/>
                  </a:lnTo>
                  <a:close/>
                </a:path>
              </a:pathLst>
            </a:custGeom>
            <a:solidFill>
              <a:srgbClr val="DBE5EA"/>
            </a:solidFill>
          </p:spPr>
        </p:sp>
        <p:sp>
          <p:nvSpPr>
            <p:cNvPr name="TextBox 4" id="4"/>
            <p:cNvSpPr txBox="true"/>
            <p:nvPr/>
          </p:nvSpPr>
          <p:spPr>
            <a:xfrm>
              <a:off x="0" y="-47625"/>
              <a:ext cx="4816593" cy="1127325"/>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3323558" y="2229682"/>
            <a:ext cx="11640883" cy="7770290"/>
          </a:xfrm>
          <a:custGeom>
            <a:avLst/>
            <a:gdLst/>
            <a:ahLst/>
            <a:cxnLst/>
            <a:rect r="r" b="b" t="t" l="l"/>
            <a:pathLst>
              <a:path h="7770290" w="11640883">
                <a:moveTo>
                  <a:pt x="0" y="0"/>
                </a:moveTo>
                <a:lnTo>
                  <a:pt x="11640884" y="0"/>
                </a:lnTo>
                <a:lnTo>
                  <a:pt x="11640884" y="7770290"/>
                </a:lnTo>
                <a:lnTo>
                  <a:pt x="0" y="7770290"/>
                </a:lnTo>
                <a:lnTo>
                  <a:pt x="0" y="0"/>
                </a:lnTo>
                <a:close/>
              </a:path>
            </a:pathLst>
          </a:custGeom>
          <a:blipFill>
            <a:blip r:embed="rId2"/>
            <a:stretch>
              <a:fillRect l="0" t="0" r="0" b="0"/>
            </a:stretch>
          </a:blipFill>
        </p:spPr>
      </p:sp>
      <p:sp>
        <p:nvSpPr>
          <p:cNvPr name="TextBox 6" id="6"/>
          <p:cNvSpPr txBox="true"/>
          <p:nvPr/>
        </p:nvSpPr>
        <p:spPr>
          <a:xfrm rot="0">
            <a:off x="6944965" y="599709"/>
            <a:ext cx="4398070"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State Diagram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6468829"/>
            <a:ext cx="18288000" cy="4099486"/>
            <a:chOff x="0" y="0"/>
            <a:chExt cx="4816593" cy="1079700"/>
          </a:xfrm>
        </p:grpSpPr>
        <p:sp>
          <p:nvSpPr>
            <p:cNvPr name="Freeform 3" id="3"/>
            <p:cNvSpPr/>
            <p:nvPr/>
          </p:nvSpPr>
          <p:spPr>
            <a:xfrm flipH="false" flipV="false" rot="0">
              <a:off x="0" y="0"/>
              <a:ext cx="4816592" cy="1079700"/>
            </a:xfrm>
            <a:custGeom>
              <a:avLst/>
              <a:gdLst/>
              <a:ahLst/>
              <a:cxnLst/>
              <a:rect r="r" b="b" t="t" l="l"/>
              <a:pathLst>
                <a:path h="1079700" w="4816592">
                  <a:moveTo>
                    <a:pt x="0" y="0"/>
                  </a:moveTo>
                  <a:lnTo>
                    <a:pt x="4816592" y="0"/>
                  </a:lnTo>
                  <a:lnTo>
                    <a:pt x="4816592" y="1079700"/>
                  </a:lnTo>
                  <a:lnTo>
                    <a:pt x="0" y="1079700"/>
                  </a:lnTo>
                  <a:close/>
                </a:path>
              </a:pathLst>
            </a:custGeom>
            <a:solidFill>
              <a:srgbClr val="DBE5EA"/>
            </a:solidFill>
          </p:spPr>
        </p:sp>
        <p:sp>
          <p:nvSpPr>
            <p:cNvPr name="TextBox 4" id="4"/>
            <p:cNvSpPr txBox="true"/>
            <p:nvPr/>
          </p:nvSpPr>
          <p:spPr>
            <a:xfrm>
              <a:off x="0" y="-47625"/>
              <a:ext cx="4816593" cy="1127325"/>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3240991" y="1684924"/>
            <a:ext cx="11806017" cy="8304784"/>
          </a:xfrm>
          <a:custGeom>
            <a:avLst/>
            <a:gdLst/>
            <a:ahLst/>
            <a:cxnLst/>
            <a:rect r="r" b="b" t="t" l="l"/>
            <a:pathLst>
              <a:path h="8304784" w="11806017">
                <a:moveTo>
                  <a:pt x="0" y="0"/>
                </a:moveTo>
                <a:lnTo>
                  <a:pt x="11806018" y="0"/>
                </a:lnTo>
                <a:lnTo>
                  <a:pt x="11806018" y="8304784"/>
                </a:lnTo>
                <a:lnTo>
                  <a:pt x="0" y="8304784"/>
                </a:lnTo>
                <a:lnTo>
                  <a:pt x="0" y="0"/>
                </a:lnTo>
                <a:close/>
              </a:path>
            </a:pathLst>
          </a:custGeom>
          <a:blipFill>
            <a:blip r:embed="rId2"/>
            <a:stretch>
              <a:fillRect l="0" t="-3643" r="0" b="-3643"/>
            </a:stretch>
          </a:blipFill>
        </p:spPr>
      </p:sp>
      <p:sp>
        <p:nvSpPr>
          <p:cNvPr name="TextBox 6" id="6"/>
          <p:cNvSpPr txBox="true"/>
          <p:nvPr/>
        </p:nvSpPr>
        <p:spPr>
          <a:xfrm rot="0">
            <a:off x="6944965" y="283352"/>
            <a:ext cx="4398070"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Class Diagram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1257742" y="15849"/>
            <a:ext cx="3489405" cy="10271151"/>
            <a:chOff x="0" y="0"/>
            <a:chExt cx="919020" cy="2705159"/>
          </a:xfrm>
        </p:grpSpPr>
        <p:sp>
          <p:nvSpPr>
            <p:cNvPr name="Freeform 3" id="3"/>
            <p:cNvSpPr/>
            <p:nvPr/>
          </p:nvSpPr>
          <p:spPr>
            <a:xfrm flipH="false" flipV="false" rot="0">
              <a:off x="0" y="0"/>
              <a:ext cx="919020" cy="2705159"/>
            </a:xfrm>
            <a:custGeom>
              <a:avLst/>
              <a:gdLst/>
              <a:ahLst/>
              <a:cxnLst/>
              <a:rect r="r" b="b" t="t" l="l"/>
              <a:pathLst>
                <a:path h="2705159" w="919020">
                  <a:moveTo>
                    <a:pt x="0" y="0"/>
                  </a:moveTo>
                  <a:lnTo>
                    <a:pt x="919020" y="0"/>
                  </a:lnTo>
                  <a:lnTo>
                    <a:pt x="919020" y="2705159"/>
                  </a:lnTo>
                  <a:lnTo>
                    <a:pt x="0" y="2705159"/>
                  </a:lnTo>
                  <a:close/>
                </a:path>
              </a:pathLst>
            </a:custGeom>
            <a:solidFill>
              <a:srgbClr val="7994A0"/>
            </a:solidFill>
          </p:spPr>
        </p:sp>
        <p:sp>
          <p:nvSpPr>
            <p:cNvPr name="TextBox 4" id="4"/>
            <p:cNvSpPr txBox="true"/>
            <p:nvPr/>
          </p:nvSpPr>
          <p:spPr>
            <a:xfrm>
              <a:off x="0" y="-47625"/>
              <a:ext cx="919020" cy="2752784"/>
            </a:xfrm>
            <a:prstGeom prst="rect">
              <a:avLst/>
            </a:prstGeom>
          </p:spPr>
          <p:txBody>
            <a:bodyPr anchor="ctr" rtlCol="false" tIns="50800" lIns="50800" bIns="50800" rIns="50800"/>
            <a:lstStyle/>
            <a:p>
              <a:pPr algn="ctr">
                <a:lnSpc>
                  <a:spcPts val="3693"/>
                </a:lnSpc>
              </a:pPr>
            </a:p>
          </p:txBody>
        </p:sp>
      </p:grpSp>
      <p:graphicFrame>
        <p:nvGraphicFramePr>
          <p:cNvPr name="Object 5" id="5"/>
          <p:cNvGraphicFramePr/>
          <p:nvPr/>
        </p:nvGraphicFramePr>
        <p:xfrm>
          <a:off x="2488680" y="2339292"/>
          <a:ext cx="5657850" cy="1885950"/>
        </p:xfrm>
        <a:graphic>
          <a:graphicData uri="http://schemas.openxmlformats.org/presentationml/2006/ole">
            <p:oleObj imgW="6781800" imgH="3009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
        <p:nvSpPr>
          <p:cNvPr name="TextBox 6" id="6"/>
          <p:cNvSpPr txBox="true"/>
          <p:nvPr/>
        </p:nvSpPr>
        <p:spPr>
          <a:xfrm rot="0">
            <a:off x="2488680" y="185054"/>
            <a:ext cx="9017868" cy="953135"/>
          </a:xfrm>
          <a:prstGeom prst="rect">
            <a:avLst/>
          </a:prstGeom>
        </p:spPr>
        <p:txBody>
          <a:bodyPr anchor="t" rtlCol="false" tIns="0" lIns="0" bIns="0" rIns="0">
            <a:spAutoFit/>
          </a:bodyPr>
          <a:lstStyle/>
          <a:p>
            <a:pPr algn="ctr">
              <a:lnSpc>
                <a:spcPts val="7839"/>
              </a:lnSpc>
              <a:spcBef>
                <a:spcPct val="0"/>
              </a:spcBef>
            </a:pPr>
            <a:r>
              <a:rPr lang="en-US" b="true" sz="5599" i="true">
                <a:solidFill>
                  <a:srgbClr val="000000"/>
                </a:solidFill>
                <a:latin typeface="Cormorant Garamond Bold Italics"/>
                <a:ea typeface="Cormorant Garamond Bold Italics"/>
                <a:cs typeface="Cormorant Garamond Bold Italics"/>
                <a:sym typeface="Cormorant Garamond Bold Italics"/>
              </a:rPr>
              <a:t>Acceptance Criteria &amp; User Stories</a:t>
            </a:r>
          </a:p>
        </p:txBody>
      </p:sp>
      <p:sp>
        <p:nvSpPr>
          <p:cNvPr name="TextBox 7" id="7"/>
          <p:cNvSpPr txBox="true"/>
          <p:nvPr/>
        </p:nvSpPr>
        <p:spPr>
          <a:xfrm rot="0">
            <a:off x="2488680" y="1618249"/>
            <a:ext cx="2486769" cy="613410"/>
          </a:xfrm>
          <a:prstGeom prst="rect">
            <a:avLst/>
          </a:prstGeom>
        </p:spPr>
        <p:txBody>
          <a:bodyPr anchor="t" rtlCol="false" tIns="0" lIns="0" bIns="0" rIns="0">
            <a:spAutoFit/>
          </a:bodyPr>
          <a:lstStyle/>
          <a:p>
            <a:pPr algn="ctr">
              <a:lnSpc>
                <a:spcPts val="5040"/>
              </a:lnSpc>
              <a:spcBef>
                <a:spcPct val="0"/>
              </a:spcBef>
            </a:pPr>
            <a:r>
              <a:rPr lang="en-US" b="true" sz="3600" i="true">
                <a:solidFill>
                  <a:srgbClr val="000000"/>
                </a:solidFill>
                <a:latin typeface="Cormorant Garamond Bold Italics"/>
                <a:ea typeface="Cormorant Garamond Bold Italics"/>
                <a:cs typeface="Cormorant Garamond Bold Italics"/>
                <a:sym typeface="Cormorant Garamond Bold Italics"/>
              </a:rPr>
              <a:t>Authentication</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aphicFrame>
        <p:nvGraphicFramePr>
          <p:cNvPr name="Object 2" id="2"/>
          <p:cNvGraphicFramePr/>
          <p:nvPr/>
        </p:nvGraphicFramePr>
        <p:xfrm>
          <a:off x="0" y="0"/>
          <a:ext cx="5657850" cy="1885950"/>
        </p:xfrm>
        <a:graphic>
          <a:graphicData uri="http://schemas.openxmlformats.org/presentationml/2006/ole">
            <p:oleObj imgW="6781800" imgH="3009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graphicFrame>
        <p:nvGraphicFramePr>
          <p:cNvPr name="Object 3" id="3"/>
          <p:cNvGraphicFramePr/>
          <p:nvPr/>
        </p:nvGraphicFramePr>
        <p:xfrm>
          <a:off x="5532736" y="4287463"/>
          <a:ext cx="5657850" cy="1257300"/>
        </p:xfrm>
        <a:graphic>
          <a:graphicData uri="http://schemas.openxmlformats.org/presentationml/2006/ole">
            <p:oleObj imgW="6781800" imgH="2387600" r:id="rId5" progId="Excel.Sheet.12" name="Worksheet">
              <p:embed/>
              <p:pic>
                <p:nvPicPr>
                  <p:cNvPr name="" id="0"/>
                  <p:cNvPicPr/>
                  <p:nvPr/>
                </p:nvPicPr>
                <p:blipFill>
                  <a:blip r:embed="rId4"/>
                  <a:stretch>
                    <a:fillRect/>
                  </a:stretch>
                </p:blipFill>
                <p:spPr>
                  <a:xfrm>
                    <a:off x="1270000" y="1270000"/>
                    <a:ext cx="1270000" cy="1270000"/>
                  </a:xfrm>
                  <a:prstGeom prst="rect"/>
                </p:spPr>
              </p:pic>
            </p:oleObj>
          </a:graphicData>
        </a:graphic>
      </p:graphicFrame>
      <p:graphicFrame>
        <p:nvGraphicFramePr>
          <p:cNvPr name="Object 4" id="4"/>
          <p:cNvGraphicFramePr/>
          <p:nvPr/>
        </p:nvGraphicFramePr>
        <p:xfrm>
          <a:off x="0" y="7151529"/>
          <a:ext cx="5657850" cy="1257300"/>
        </p:xfrm>
        <a:graphic>
          <a:graphicData uri="http://schemas.openxmlformats.org/presentationml/2006/ole">
            <p:oleObj imgW="6781800" imgH="2387600" r:id="rId7" progId="Excel.Sheet.12" name="Worksheet">
              <p:embed/>
              <p:pic>
                <p:nvPicPr>
                  <p:cNvPr name="" id="0"/>
                  <p:cNvPicPr/>
                  <p:nvPr/>
                </p:nvPicPr>
                <p:blipFill>
                  <a:blip r:embed="rId6"/>
                  <a:stretch>
                    <a:fillRect/>
                  </a:stretch>
                </p:blipFill>
                <p:spPr>
                  <a:xfrm>
                    <a:off x="1270000" y="1270000"/>
                    <a:ext cx="1270000" cy="1270000"/>
                  </a:xfrm>
                  <a:prstGeom prst="rect"/>
                </p:spPr>
              </p:pic>
            </p:oleObj>
          </a:graphicData>
        </a:graphic>
      </p:graphicFrame>
      <p:grpSp>
        <p:nvGrpSpPr>
          <p:cNvPr name="Group 5" id="5"/>
          <p:cNvGrpSpPr/>
          <p:nvPr/>
        </p:nvGrpSpPr>
        <p:grpSpPr>
          <a:xfrm rot="0">
            <a:off x="-1257742" y="4287463"/>
            <a:ext cx="6790478" cy="2865552"/>
            <a:chOff x="0" y="0"/>
            <a:chExt cx="1788439" cy="754713"/>
          </a:xfrm>
        </p:grpSpPr>
        <p:sp>
          <p:nvSpPr>
            <p:cNvPr name="Freeform 6" id="6"/>
            <p:cNvSpPr/>
            <p:nvPr/>
          </p:nvSpPr>
          <p:spPr>
            <a:xfrm flipH="false" flipV="false" rot="0">
              <a:off x="0" y="0"/>
              <a:ext cx="1788439" cy="754713"/>
            </a:xfrm>
            <a:custGeom>
              <a:avLst/>
              <a:gdLst/>
              <a:ahLst/>
              <a:cxnLst/>
              <a:rect r="r" b="b" t="t" l="l"/>
              <a:pathLst>
                <a:path h="754713" w="1788439">
                  <a:moveTo>
                    <a:pt x="0" y="0"/>
                  </a:moveTo>
                  <a:lnTo>
                    <a:pt x="1788439" y="0"/>
                  </a:lnTo>
                  <a:lnTo>
                    <a:pt x="1788439" y="754713"/>
                  </a:lnTo>
                  <a:lnTo>
                    <a:pt x="0" y="754713"/>
                  </a:lnTo>
                  <a:close/>
                </a:path>
              </a:pathLst>
            </a:custGeom>
            <a:solidFill>
              <a:srgbClr val="7994A0"/>
            </a:solidFill>
          </p:spPr>
        </p:sp>
        <p:sp>
          <p:nvSpPr>
            <p:cNvPr name="TextBox 7" id="7"/>
            <p:cNvSpPr txBox="true"/>
            <p:nvPr/>
          </p:nvSpPr>
          <p:spPr>
            <a:xfrm>
              <a:off x="0" y="-47625"/>
              <a:ext cx="1788439" cy="802338"/>
            </a:xfrm>
            <a:prstGeom prst="rect">
              <a:avLst/>
            </a:prstGeom>
          </p:spPr>
          <p:txBody>
            <a:bodyPr anchor="ctr" rtlCol="false" tIns="50800" lIns="50800" bIns="50800" rIns="50800"/>
            <a:lstStyle/>
            <a:p>
              <a:pPr algn="ctr">
                <a:lnSpc>
                  <a:spcPts val="3693"/>
                </a:lnSpc>
              </a:pPr>
            </a:p>
          </p:txBody>
        </p:sp>
      </p:grpSp>
      <p:grpSp>
        <p:nvGrpSpPr>
          <p:cNvPr name="Group 8" id="8"/>
          <p:cNvGrpSpPr/>
          <p:nvPr/>
        </p:nvGrpSpPr>
        <p:grpSpPr>
          <a:xfrm rot="0">
            <a:off x="13002462" y="0"/>
            <a:ext cx="5285538" cy="4287463"/>
            <a:chOff x="0" y="0"/>
            <a:chExt cx="1392076" cy="1129208"/>
          </a:xfrm>
        </p:grpSpPr>
        <p:sp>
          <p:nvSpPr>
            <p:cNvPr name="Freeform 9" id="9"/>
            <p:cNvSpPr/>
            <p:nvPr/>
          </p:nvSpPr>
          <p:spPr>
            <a:xfrm flipH="false" flipV="false" rot="0">
              <a:off x="0" y="0"/>
              <a:ext cx="1392076" cy="1129208"/>
            </a:xfrm>
            <a:custGeom>
              <a:avLst/>
              <a:gdLst/>
              <a:ahLst/>
              <a:cxnLst/>
              <a:rect r="r" b="b" t="t" l="l"/>
              <a:pathLst>
                <a:path h="1129208" w="1392076">
                  <a:moveTo>
                    <a:pt x="0" y="0"/>
                  </a:moveTo>
                  <a:lnTo>
                    <a:pt x="1392076" y="0"/>
                  </a:lnTo>
                  <a:lnTo>
                    <a:pt x="1392076" y="1129208"/>
                  </a:lnTo>
                  <a:lnTo>
                    <a:pt x="0" y="1129208"/>
                  </a:lnTo>
                  <a:close/>
                </a:path>
              </a:pathLst>
            </a:custGeom>
            <a:solidFill>
              <a:srgbClr val="7994A0"/>
            </a:solidFill>
          </p:spPr>
        </p:sp>
        <p:sp>
          <p:nvSpPr>
            <p:cNvPr name="TextBox 10" id="10"/>
            <p:cNvSpPr txBox="true"/>
            <p:nvPr/>
          </p:nvSpPr>
          <p:spPr>
            <a:xfrm>
              <a:off x="0" y="-47625"/>
              <a:ext cx="1392076" cy="1176833"/>
            </a:xfrm>
            <a:prstGeom prst="rect">
              <a:avLst/>
            </a:prstGeom>
          </p:spPr>
          <p:txBody>
            <a:bodyPr anchor="ctr" rtlCol="false" tIns="50800" lIns="50800" bIns="50800" rIns="50800"/>
            <a:lstStyle/>
            <a:p>
              <a:pPr algn="ctr">
                <a:lnSpc>
                  <a:spcPts val="3693"/>
                </a:lnSpc>
              </a:pPr>
            </a:p>
          </p:txBody>
        </p:sp>
      </p:grpSp>
      <p:grpSp>
        <p:nvGrpSpPr>
          <p:cNvPr name="Group 11" id="11"/>
          <p:cNvGrpSpPr/>
          <p:nvPr/>
        </p:nvGrpSpPr>
        <p:grpSpPr>
          <a:xfrm rot="0">
            <a:off x="13002462" y="7153015"/>
            <a:ext cx="5285538" cy="5261868"/>
            <a:chOff x="0" y="0"/>
            <a:chExt cx="1392076" cy="1385842"/>
          </a:xfrm>
        </p:grpSpPr>
        <p:sp>
          <p:nvSpPr>
            <p:cNvPr name="Freeform 12" id="12"/>
            <p:cNvSpPr/>
            <p:nvPr/>
          </p:nvSpPr>
          <p:spPr>
            <a:xfrm flipH="false" flipV="false" rot="0">
              <a:off x="0" y="0"/>
              <a:ext cx="1392076" cy="1385842"/>
            </a:xfrm>
            <a:custGeom>
              <a:avLst/>
              <a:gdLst/>
              <a:ahLst/>
              <a:cxnLst/>
              <a:rect r="r" b="b" t="t" l="l"/>
              <a:pathLst>
                <a:path h="1385842" w="1392076">
                  <a:moveTo>
                    <a:pt x="0" y="0"/>
                  </a:moveTo>
                  <a:lnTo>
                    <a:pt x="1392076" y="0"/>
                  </a:lnTo>
                  <a:lnTo>
                    <a:pt x="1392076" y="1385842"/>
                  </a:lnTo>
                  <a:lnTo>
                    <a:pt x="0" y="1385842"/>
                  </a:lnTo>
                  <a:close/>
                </a:path>
              </a:pathLst>
            </a:custGeom>
            <a:solidFill>
              <a:srgbClr val="7994A0"/>
            </a:solidFill>
          </p:spPr>
        </p:sp>
        <p:sp>
          <p:nvSpPr>
            <p:cNvPr name="TextBox 13" id="13"/>
            <p:cNvSpPr txBox="true"/>
            <p:nvPr/>
          </p:nvSpPr>
          <p:spPr>
            <a:xfrm>
              <a:off x="0" y="-47625"/>
              <a:ext cx="1392076" cy="1433467"/>
            </a:xfrm>
            <a:prstGeom prst="rect">
              <a:avLst/>
            </a:prstGeom>
          </p:spPr>
          <p:txBody>
            <a:bodyPr anchor="ctr" rtlCol="false" tIns="50800" lIns="50800" bIns="50800" rIns="50800"/>
            <a:lstStyle/>
            <a:p>
              <a:pPr algn="ctr">
                <a:lnSpc>
                  <a:spcPts val="3693"/>
                </a:lnSpc>
              </a:pPr>
            </a:p>
          </p:txBody>
        </p:sp>
      </p:grpSp>
      <p:sp>
        <p:nvSpPr>
          <p:cNvPr name="TextBox 14" id="14"/>
          <p:cNvSpPr txBox="true"/>
          <p:nvPr/>
        </p:nvSpPr>
        <p:spPr>
          <a:xfrm rot="0">
            <a:off x="13002462" y="1874492"/>
            <a:ext cx="5285538" cy="481330"/>
          </a:xfrm>
          <a:prstGeom prst="rect">
            <a:avLst/>
          </a:prstGeom>
        </p:spPr>
        <p:txBody>
          <a:bodyPr anchor="t" rtlCol="false" tIns="0" lIns="0" bIns="0" rIns="0">
            <a:spAutoFit/>
          </a:bodyPr>
          <a:lstStyle/>
          <a:p>
            <a:pPr algn="ctr">
              <a:lnSpc>
                <a:spcPts val="3919"/>
              </a:lnSpc>
              <a:spcBef>
                <a:spcPct val="0"/>
              </a:spcBef>
            </a:pPr>
            <a:r>
              <a:rPr lang="en-US" b="true" sz="2799" i="true">
                <a:solidFill>
                  <a:srgbClr val="FFFFFF"/>
                </a:solidFill>
                <a:latin typeface="Cormorant Garamond Bold Italics"/>
                <a:ea typeface="Cormorant Garamond Bold Italics"/>
                <a:cs typeface="Cormorant Garamond Bold Italics"/>
                <a:sym typeface="Cormorant Garamond Bold Italics"/>
              </a:rPr>
              <a:t>Ticket Management</a:t>
            </a:r>
          </a:p>
        </p:txBody>
      </p:sp>
      <p:sp>
        <p:nvSpPr>
          <p:cNvPr name="TextBox 15" id="15"/>
          <p:cNvSpPr txBox="true"/>
          <p:nvPr/>
        </p:nvSpPr>
        <p:spPr>
          <a:xfrm rot="0">
            <a:off x="0" y="5450999"/>
            <a:ext cx="5285538" cy="481330"/>
          </a:xfrm>
          <a:prstGeom prst="rect">
            <a:avLst/>
          </a:prstGeom>
        </p:spPr>
        <p:txBody>
          <a:bodyPr anchor="t" rtlCol="false" tIns="0" lIns="0" bIns="0" rIns="0">
            <a:spAutoFit/>
          </a:bodyPr>
          <a:lstStyle/>
          <a:p>
            <a:pPr algn="ctr">
              <a:lnSpc>
                <a:spcPts val="3919"/>
              </a:lnSpc>
              <a:spcBef>
                <a:spcPct val="0"/>
              </a:spcBef>
            </a:pPr>
            <a:r>
              <a:rPr lang="en-US" b="true" sz="2799" i="true">
                <a:solidFill>
                  <a:srgbClr val="FFFFFF"/>
                </a:solidFill>
                <a:latin typeface="Cormorant Garamond Bold Italics"/>
                <a:ea typeface="Cormorant Garamond Bold Italics"/>
                <a:cs typeface="Cormorant Garamond Bold Italics"/>
                <a:sym typeface="Cormorant Garamond Bold Italics"/>
              </a:rPr>
              <a:t>SLA Management</a:t>
            </a:r>
          </a:p>
        </p:txBody>
      </p:sp>
      <p:sp>
        <p:nvSpPr>
          <p:cNvPr name="TextBox 16" id="16"/>
          <p:cNvSpPr txBox="true"/>
          <p:nvPr/>
        </p:nvSpPr>
        <p:spPr>
          <a:xfrm rot="0">
            <a:off x="13002462" y="8450767"/>
            <a:ext cx="5285538" cy="481330"/>
          </a:xfrm>
          <a:prstGeom prst="rect">
            <a:avLst/>
          </a:prstGeom>
        </p:spPr>
        <p:txBody>
          <a:bodyPr anchor="t" rtlCol="false" tIns="0" lIns="0" bIns="0" rIns="0">
            <a:spAutoFit/>
          </a:bodyPr>
          <a:lstStyle/>
          <a:p>
            <a:pPr algn="ctr">
              <a:lnSpc>
                <a:spcPts val="3919"/>
              </a:lnSpc>
              <a:spcBef>
                <a:spcPct val="0"/>
              </a:spcBef>
            </a:pPr>
            <a:r>
              <a:rPr lang="en-US" b="true" sz="2799" i="true">
                <a:solidFill>
                  <a:srgbClr val="FFFFFF"/>
                </a:solidFill>
                <a:latin typeface="Cormorant Garamond Bold Italics"/>
                <a:ea typeface="Cormorant Garamond Bold Italics"/>
                <a:cs typeface="Cormorant Garamond Bold Italics"/>
                <a:sym typeface="Cormorant Garamond Bold Italics"/>
              </a:rPr>
              <a:t>Email Notifications</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126541"/>
            <a:chOff x="0" y="0"/>
            <a:chExt cx="4816593" cy="2667073"/>
          </a:xfrm>
        </p:grpSpPr>
        <p:sp>
          <p:nvSpPr>
            <p:cNvPr name="Freeform 3" id="3"/>
            <p:cNvSpPr/>
            <p:nvPr/>
          </p:nvSpPr>
          <p:spPr>
            <a:xfrm flipH="false" flipV="false" rot="0">
              <a:off x="0" y="0"/>
              <a:ext cx="4816592" cy="2667072"/>
            </a:xfrm>
            <a:custGeom>
              <a:avLst/>
              <a:gdLst/>
              <a:ahLst/>
              <a:cxnLst/>
              <a:rect r="r" b="b" t="t" l="l"/>
              <a:pathLst>
                <a:path h="2667072" w="4816592">
                  <a:moveTo>
                    <a:pt x="0" y="0"/>
                  </a:moveTo>
                  <a:lnTo>
                    <a:pt x="4816592" y="0"/>
                  </a:lnTo>
                  <a:lnTo>
                    <a:pt x="4816592" y="2667072"/>
                  </a:lnTo>
                  <a:lnTo>
                    <a:pt x="0" y="2667072"/>
                  </a:lnTo>
                  <a:close/>
                </a:path>
              </a:pathLst>
            </a:custGeom>
            <a:solidFill>
              <a:srgbClr val="DBE5EA"/>
            </a:solidFill>
          </p:spPr>
        </p:sp>
        <p:sp>
          <p:nvSpPr>
            <p:cNvPr name="TextBox 4" id="4"/>
            <p:cNvSpPr txBox="true"/>
            <p:nvPr/>
          </p:nvSpPr>
          <p:spPr>
            <a:xfrm>
              <a:off x="0" y="-47625"/>
              <a:ext cx="4816593" cy="2714698"/>
            </a:xfrm>
            <a:prstGeom prst="rect">
              <a:avLst/>
            </a:prstGeom>
          </p:spPr>
          <p:txBody>
            <a:bodyPr anchor="ctr" rtlCol="false" tIns="50800" lIns="50800" bIns="50800" rIns="50800"/>
            <a:lstStyle/>
            <a:p>
              <a:pPr algn="ctr">
                <a:lnSpc>
                  <a:spcPts val="3693"/>
                </a:lnSpc>
              </a:pPr>
            </a:p>
          </p:txBody>
        </p:sp>
      </p:grpSp>
      <p:graphicFrame>
        <p:nvGraphicFramePr>
          <p:cNvPr name="Object 5" id="5"/>
          <p:cNvGraphicFramePr/>
          <p:nvPr/>
        </p:nvGraphicFramePr>
        <p:xfrm>
          <a:off x="348156" y="398457"/>
          <a:ext cx="11401978" cy="8229600"/>
        </p:xfrm>
        <a:graphic>
          <a:graphicData uri="http://schemas.openxmlformats.org/presentationml/2006/ole">
            <p:oleObj imgW="13677900" imgH="105029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22.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2493631" y="2292862"/>
            <a:ext cx="11123425" cy="7171208"/>
            <a:chOff x="0" y="0"/>
            <a:chExt cx="14831234" cy="9561611"/>
          </a:xfrm>
        </p:grpSpPr>
        <p:grpSp>
          <p:nvGrpSpPr>
            <p:cNvPr name="Group 3" id="3"/>
            <p:cNvGrpSpPr/>
            <p:nvPr/>
          </p:nvGrpSpPr>
          <p:grpSpPr>
            <a:xfrm rot="0">
              <a:off x="0" y="252151"/>
              <a:ext cx="1443343" cy="721672"/>
              <a:chOff x="0" y="0"/>
              <a:chExt cx="812800" cy="406400"/>
            </a:xfrm>
          </p:grpSpPr>
          <p:sp>
            <p:nvSpPr>
              <p:cNvPr name="Freeform 4" id="4"/>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F4662"/>
              </a:solidFill>
            </p:spPr>
          </p:sp>
          <p:sp>
            <p:nvSpPr>
              <p:cNvPr name="TextBox 5" id="5"/>
              <p:cNvSpPr txBox="true"/>
              <p:nvPr/>
            </p:nvSpPr>
            <p:spPr>
              <a:xfrm>
                <a:off x="177800" y="-38100"/>
                <a:ext cx="558800" cy="44450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821076" y="-57150"/>
              <a:ext cx="13010158" cy="1283123"/>
            </a:xfrm>
            <a:prstGeom prst="rect">
              <a:avLst/>
            </a:prstGeom>
          </p:spPr>
          <p:txBody>
            <a:bodyPr anchor="t" rtlCol="false" tIns="0" lIns="0" bIns="0" rIns="0">
              <a:spAutoFit/>
            </a:bodyPr>
            <a:lstStyle/>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End-to-End Ticket Lifecycle</a:t>
              </a:r>
            </a:p>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 (Submission → Review → Approval → Assignment → Completion → Closure)</a:t>
              </a:r>
            </a:p>
          </p:txBody>
        </p:sp>
        <p:sp>
          <p:nvSpPr>
            <p:cNvPr name="TextBox 7" id="7"/>
            <p:cNvSpPr txBox="true"/>
            <p:nvPr/>
          </p:nvSpPr>
          <p:spPr>
            <a:xfrm rot="0">
              <a:off x="1817454" y="2706703"/>
              <a:ext cx="9261971" cy="1283123"/>
            </a:xfrm>
            <a:prstGeom prst="rect">
              <a:avLst/>
            </a:prstGeom>
          </p:spPr>
          <p:txBody>
            <a:bodyPr anchor="t" rtlCol="false" tIns="0" lIns="0" bIns="0" rIns="0">
              <a:spAutoFit/>
            </a:bodyPr>
            <a:lstStyle/>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Financial Workflow</a:t>
              </a:r>
            </a:p>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 (Estimates, invoices, and payment tracking per ticket)</a:t>
              </a:r>
            </a:p>
          </p:txBody>
        </p:sp>
        <p:grpSp>
          <p:nvGrpSpPr>
            <p:cNvPr name="Group 8" id="8"/>
            <p:cNvGrpSpPr/>
            <p:nvPr/>
          </p:nvGrpSpPr>
          <p:grpSpPr>
            <a:xfrm rot="0">
              <a:off x="0" y="3016004"/>
              <a:ext cx="1443343" cy="721672"/>
              <a:chOff x="0" y="0"/>
              <a:chExt cx="812800" cy="406400"/>
            </a:xfrm>
          </p:grpSpPr>
          <p:sp>
            <p:nvSpPr>
              <p:cNvPr name="Freeform 9" id="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F4662"/>
              </a:solidFill>
            </p:spPr>
          </p:sp>
          <p:sp>
            <p:nvSpPr>
              <p:cNvPr name="TextBox 10" id="10"/>
              <p:cNvSpPr txBox="true"/>
              <p:nvPr/>
            </p:nvSpPr>
            <p:spPr>
              <a:xfrm>
                <a:off x="177800" y="-38100"/>
                <a:ext cx="558800"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1" id="11"/>
            <p:cNvSpPr txBox="true"/>
            <p:nvPr/>
          </p:nvSpPr>
          <p:spPr>
            <a:xfrm rot="0">
              <a:off x="1821076" y="1372045"/>
              <a:ext cx="11689358" cy="1283123"/>
            </a:xfrm>
            <a:prstGeom prst="rect">
              <a:avLst/>
            </a:prstGeom>
          </p:spPr>
          <p:txBody>
            <a:bodyPr anchor="t" rtlCol="false" tIns="0" lIns="0" bIns="0" rIns="0">
              <a:spAutoFit/>
            </a:bodyPr>
            <a:lstStyle/>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SLA Tracking System</a:t>
              </a:r>
            </a:p>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 (Priority-based deadlines with auto monitoring &amp; breach detection)</a:t>
              </a:r>
            </a:p>
          </p:txBody>
        </p:sp>
        <p:grpSp>
          <p:nvGrpSpPr>
            <p:cNvPr name="Group 12" id="12"/>
            <p:cNvGrpSpPr/>
            <p:nvPr/>
          </p:nvGrpSpPr>
          <p:grpSpPr>
            <a:xfrm rot="0">
              <a:off x="0" y="1681346"/>
              <a:ext cx="1443343" cy="721672"/>
              <a:chOff x="0" y="0"/>
              <a:chExt cx="812800" cy="406400"/>
            </a:xfrm>
          </p:grpSpPr>
          <p:sp>
            <p:nvSpPr>
              <p:cNvPr name="Freeform 13" id="13"/>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F4662"/>
              </a:solidFill>
            </p:spPr>
          </p:sp>
          <p:sp>
            <p:nvSpPr>
              <p:cNvPr name="TextBox 14" id="14"/>
              <p:cNvSpPr txBox="true"/>
              <p:nvPr/>
            </p:nvSpPr>
            <p:spPr>
              <a:xfrm>
                <a:off x="177800" y="-38100"/>
                <a:ext cx="558800"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853966" y="4032428"/>
              <a:ext cx="7832130" cy="1283123"/>
            </a:xfrm>
            <a:prstGeom prst="rect">
              <a:avLst/>
            </a:prstGeom>
          </p:spPr>
          <p:txBody>
            <a:bodyPr anchor="t" rtlCol="false" tIns="0" lIns="0" bIns="0" rIns="0">
              <a:spAutoFit/>
            </a:bodyPr>
            <a:lstStyle/>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Email Notifications</a:t>
              </a:r>
            </a:p>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 (Automated updates on ticket status changes)</a:t>
              </a:r>
            </a:p>
          </p:txBody>
        </p:sp>
        <p:grpSp>
          <p:nvGrpSpPr>
            <p:cNvPr name="Group 16" id="16"/>
            <p:cNvGrpSpPr/>
            <p:nvPr/>
          </p:nvGrpSpPr>
          <p:grpSpPr>
            <a:xfrm rot="0">
              <a:off x="0" y="4347276"/>
              <a:ext cx="1443343" cy="721672"/>
              <a:chOff x="0" y="0"/>
              <a:chExt cx="812800" cy="406400"/>
            </a:xfrm>
          </p:grpSpPr>
          <p:sp>
            <p:nvSpPr>
              <p:cNvPr name="Freeform 17" id="17"/>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F4662"/>
              </a:solidFill>
            </p:spPr>
          </p:sp>
          <p:sp>
            <p:nvSpPr>
              <p:cNvPr name="TextBox 18" id="18"/>
              <p:cNvSpPr txBox="true"/>
              <p:nvPr/>
            </p:nvSpPr>
            <p:spPr>
              <a:xfrm>
                <a:off x="177800" y="-38100"/>
                <a:ext cx="558800" cy="444500"/>
              </a:xfrm>
              <a:prstGeom prst="rect">
                <a:avLst/>
              </a:prstGeom>
            </p:spPr>
            <p:txBody>
              <a:bodyPr anchor="ctr" rtlCol="false" tIns="50800" lIns="50800" bIns="50800" rIns="50800"/>
              <a:lstStyle/>
              <a:p>
                <a:pPr algn="ctr">
                  <a:lnSpc>
                    <a:spcPts val="2659"/>
                  </a:lnSpc>
                  <a:spcBef>
                    <a:spcPct val="0"/>
                  </a:spcBef>
                </a:pPr>
              </a:p>
            </p:txBody>
          </p:sp>
        </p:grpSp>
        <p:sp>
          <p:nvSpPr>
            <p:cNvPr name="TextBox 19" id="19"/>
            <p:cNvSpPr txBox="true"/>
            <p:nvPr/>
          </p:nvSpPr>
          <p:spPr>
            <a:xfrm rot="0">
              <a:off x="1891124" y="5334506"/>
              <a:ext cx="8100020" cy="1283123"/>
            </a:xfrm>
            <a:prstGeom prst="rect">
              <a:avLst/>
            </a:prstGeom>
          </p:spPr>
          <p:txBody>
            <a:bodyPr anchor="t" rtlCol="false" tIns="0" lIns="0" bIns="0" rIns="0">
              <a:spAutoFit/>
            </a:bodyPr>
            <a:lstStyle/>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Dashboard &amp; Reporting</a:t>
              </a:r>
            </a:p>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 (KPIs, workload tracking, and system insights)</a:t>
              </a:r>
            </a:p>
          </p:txBody>
        </p:sp>
        <p:grpSp>
          <p:nvGrpSpPr>
            <p:cNvPr name="Group 20" id="20"/>
            <p:cNvGrpSpPr/>
            <p:nvPr/>
          </p:nvGrpSpPr>
          <p:grpSpPr>
            <a:xfrm rot="0">
              <a:off x="0" y="5643807"/>
              <a:ext cx="1443343" cy="721672"/>
              <a:chOff x="0" y="0"/>
              <a:chExt cx="812800" cy="406400"/>
            </a:xfrm>
          </p:grpSpPr>
          <p:sp>
            <p:nvSpPr>
              <p:cNvPr name="Freeform 21" id="21"/>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F4662"/>
              </a:solidFill>
            </p:spPr>
          </p:sp>
          <p:sp>
            <p:nvSpPr>
              <p:cNvPr name="TextBox 22" id="22"/>
              <p:cNvSpPr txBox="true"/>
              <p:nvPr/>
            </p:nvSpPr>
            <p:spPr>
              <a:xfrm>
                <a:off x="177800" y="-38100"/>
                <a:ext cx="558800"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3" id="23"/>
            <p:cNvSpPr txBox="true"/>
            <p:nvPr/>
          </p:nvSpPr>
          <p:spPr>
            <a:xfrm rot="0">
              <a:off x="1891124" y="6674780"/>
              <a:ext cx="5732859" cy="1283123"/>
            </a:xfrm>
            <a:prstGeom prst="rect">
              <a:avLst/>
            </a:prstGeom>
          </p:spPr>
          <p:txBody>
            <a:bodyPr anchor="t" rtlCol="false" tIns="0" lIns="0" bIns="0" rIns="0">
              <a:spAutoFit/>
            </a:bodyPr>
            <a:lstStyle/>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 Logging</a:t>
              </a:r>
            </a:p>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 (Full history of all ticket actions)</a:t>
              </a:r>
            </a:p>
          </p:txBody>
        </p:sp>
        <p:grpSp>
          <p:nvGrpSpPr>
            <p:cNvPr name="Group 24" id="24"/>
            <p:cNvGrpSpPr/>
            <p:nvPr/>
          </p:nvGrpSpPr>
          <p:grpSpPr>
            <a:xfrm rot="0">
              <a:off x="0" y="7056941"/>
              <a:ext cx="1443343" cy="721672"/>
              <a:chOff x="0" y="0"/>
              <a:chExt cx="812800" cy="406400"/>
            </a:xfrm>
          </p:grpSpPr>
          <p:sp>
            <p:nvSpPr>
              <p:cNvPr name="Freeform 25" id="25"/>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F4662"/>
              </a:solidFill>
            </p:spPr>
          </p:sp>
          <p:sp>
            <p:nvSpPr>
              <p:cNvPr name="TextBox 26" id="26"/>
              <p:cNvSpPr txBox="true"/>
              <p:nvPr/>
            </p:nvSpPr>
            <p:spPr>
              <a:xfrm>
                <a:off x="177800" y="-38100"/>
                <a:ext cx="558800" cy="444500"/>
              </a:xfrm>
              <a:prstGeom prst="rect">
                <a:avLst/>
              </a:prstGeom>
            </p:spPr>
            <p:txBody>
              <a:bodyPr anchor="ctr" rtlCol="false" tIns="50800" lIns="50800" bIns="50800" rIns="50800"/>
              <a:lstStyle/>
              <a:p>
                <a:pPr algn="ctr">
                  <a:lnSpc>
                    <a:spcPts val="2659"/>
                  </a:lnSpc>
                  <a:spcBef>
                    <a:spcPct val="0"/>
                  </a:spcBef>
                </a:pPr>
              </a:p>
            </p:txBody>
          </p:sp>
        </p:grpSp>
        <p:sp>
          <p:nvSpPr>
            <p:cNvPr name="TextBox 27" id="27"/>
            <p:cNvSpPr txBox="true"/>
            <p:nvPr/>
          </p:nvSpPr>
          <p:spPr>
            <a:xfrm rot="0">
              <a:off x="1891124" y="8278487"/>
              <a:ext cx="8710116" cy="1283123"/>
            </a:xfrm>
            <a:prstGeom prst="rect">
              <a:avLst/>
            </a:prstGeom>
          </p:spPr>
          <p:txBody>
            <a:bodyPr anchor="t" rtlCol="false" tIns="0" lIns="0" bIns="0" rIns="0">
              <a:spAutoFit/>
            </a:bodyPr>
            <a:lstStyle/>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Role-Based Access Control</a:t>
              </a:r>
            </a:p>
            <a:p>
              <a:pPr algn="l">
                <a:lnSpc>
                  <a:spcPts val="3919"/>
                </a:lnSpc>
                <a:spcBef>
                  <a:spcPct val="0"/>
                </a:spcBef>
              </a:pPr>
              <a:r>
                <a:rPr lang="en-US" b="true" sz="2799" i="true">
                  <a:solidFill>
                    <a:srgbClr val="000000"/>
                  </a:solidFill>
                  <a:latin typeface="Cormorant Garamond Bold Italics"/>
                  <a:ea typeface="Cormorant Garamond Bold Italics"/>
                  <a:cs typeface="Cormorant Garamond Bold Italics"/>
                  <a:sym typeface="Cormorant Garamond Bold Italics"/>
                </a:rPr>
                <a:t> (Admin, Technician, User with secure permissions)</a:t>
              </a:r>
            </a:p>
          </p:txBody>
        </p:sp>
        <p:grpSp>
          <p:nvGrpSpPr>
            <p:cNvPr name="Group 28" id="28"/>
            <p:cNvGrpSpPr/>
            <p:nvPr/>
          </p:nvGrpSpPr>
          <p:grpSpPr>
            <a:xfrm rot="0">
              <a:off x="0" y="8587788"/>
              <a:ext cx="1443343" cy="721672"/>
              <a:chOff x="0" y="0"/>
              <a:chExt cx="812800" cy="406400"/>
            </a:xfrm>
          </p:grpSpPr>
          <p:sp>
            <p:nvSpPr>
              <p:cNvPr name="Freeform 29" id="2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F4662"/>
              </a:solidFill>
            </p:spPr>
          </p:sp>
          <p:sp>
            <p:nvSpPr>
              <p:cNvPr name="TextBox 30" id="30"/>
              <p:cNvSpPr txBox="true"/>
              <p:nvPr/>
            </p:nvSpPr>
            <p:spPr>
              <a:xfrm>
                <a:off x="177800" y="-38100"/>
                <a:ext cx="558800" cy="444500"/>
              </a:xfrm>
              <a:prstGeom prst="rect">
                <a:avLst/>
              </a:prstGeom>
            </p:spPr>
            <p:txBody>
              <a:bodyPr anchor="ctr" rtlCol="false" tIns="50800" lIns="50800" bIns="50800" rIns="50800"/>
              <a:lstStyle/>
              <a:p>
                <a:pPr algn="ctr">
                  <a:lnSpc>
                    <a:spcPts val="2659"/>
                  </a:lnSpc>
                  <a:spcBef>
                    <a:spcPct val="0"/>
                  </a:spcBef>
                </a:pPr>
              </a:p>
            </p:txBody>
          </p:sp>
        </p:grpSp>
      </p:grpSp>
      <p:sp>
        <p:nvSpPr>
          <p:cNvPr name="TextBox 31" id="31"/>
          <p:cNvSpPr txBox="true"/>
          <p:nvPr/>
        </p:nvSpPr>
        <p:spPr>
          <a:xfrm rot="0">
            <a:off x="1350509" y="656275"/>
            <a:ext cx="8045933" cy="1419540"/>
          </a:xfrm>
          <a:prstGeom prst="rect">
            <a:avLst/>
          </a:prstGeom>
        </p:spPr>
        <p:txBody>
          <a:bodyPr anchor="t" rtlCol="false" tIns="0" lIns="0" bIns="0" rIns="0">
            <a:spAutoFit/>
          </a:bodyPr>
          <a:lstStyle/>
          <a:p>
            <a:pPr algn="ctr">
              <a:lnSpc>
                <a:spcPts val="11698"/>
              </a:lnSpc>
            </a:pPr>
            <a:r>
              <a:rPr lang="en-US" sz="8356" b="true">
                <a:solidFill>
                  <a:srgbClr val="000000"/>
                </a:solidFill>
                <a:latin typeface="Cormorant Garamond Bold"/>
                <a:ea typeface="Cormorant Garamond Bold"/>
                <a:cs typeface="Cormorant Garamond Bold"/>
                <a:sym typeface="Cormorant Garamond Bold"/>
              </a:rPr>
              <a:t>Stories</a:t>
            </a:r>
            <a:r>
              <a:rPr lang="en-US" b="true" sz="8356">
                <a:solidFill>
                  <a:srgbClr val="000000"/>
                </a:solidFill>
                <a:latin typeface="Cormorant Garamond Bold"/>
                <a:ea typeface="Cormorant Garamond Bold"/>
                <a:cs typeface="Cormorant Garamond Bold"/>
                <a:sym typeface="Cormorant Garamond Bold"/>
              </a:rPr>
              <a:t> Completed:</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553603" y="0"/>
            <a:ext cx="17180793" cy="10287000"/>
          </a:xfrm>
          <a:custGeom>
            <a:avLst/>
            <a:gdLst/>
            <a:ahLst/>
            <a:cxnLst/>
            <a:rect r="r" b="b" t="t" l="l"/>
            <a:pathLst>
              <a:path h="10287000" w="17180793">
                <a:moveTo>
                  <a:pt x="0" y="0"/>
                </a:moveTo>
                <a:lnTo>
                  <a:pt x="17180794" y="0"/>
                </a:lnTo>
                <a:lnTo>
                  <a:pt x="17180794" y="10287000"/>
                </a:lnTo>
                <a:lnTo>
                  <a:pt x="0" y="10287000"/>
                </a:lnTo>
                <a:lnTo>
                  <a:pt x="0" y="0"/>
                </a:lnTo>
                <a:close/>
              </a:path>
            </a:pathLst>
          </a:custGeom>
          <a:blipFill>
            <a:blip r:embed="rId2"/>
            <a:stretch>
              <a:fillRect l="0" t="0" r="0" b="0"/>
            </a:stretch>
          </a:blipFill>
        </p:spPr>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2529164"/>
          </a:xfrm>
          <a:custGeom>
            <a:avLst/>
            <a:gdLst/>
            <a:ahLst/>
            <a:cxnLst/>
            <a:rect r="r" b="b" t="t" l="l"/>
            <a:pathLst>
              <a:path h="2529164" w="18288000">
                <a:moveTo>
                  <a:pt x="0" y="0"/>
                </a:moveTo>
                <a:lnTo>
                  <a:pt x="18288000" y="0"/>
                </a:lnTo>
                <a:lnTo>
                  <a:pt x="18288000" y="2529164"/>
                </a:lnTo>
                <a:lnTo>
                  <a:pt x="0" y="2529164"/>
                </a:lnTo>
                <a:lnTo>
                  <a:pt x="0" y="0"/>
                </a:lnTo>
                <a:close/>
              </a:path>
            </a:pathLst>
          </a:custGeom>
          <a:blipFill>
            <a:blip r:embed="rId2"/>
            <a:stretch>
              <a:fillRect l="-6795" t="-1643" r="-6795" b="0"/>
            </a:stretch>
          </a:blipFill>
        </p:spPr>
      </p:sp>
      <p:sp>
        <p:nvSpPr>
          <p:cNvPr name="Freeform 3" id="3"/>
          <p:cNvSpPr/>
          <p:nvPr/>
        </p:nvSpPr>
        <p:spPr>
          <a:xfrm flipH="false" flipV="false" rot="0">
            <a:off x="1746685" y="2900120"/>
            <a:ext cx="14794629" cy="6879503"/>
          </a:xfrm>
          <a:custGeom>
            <a:avLst/>
            <a:gdLst/>
            <a:ahLst/>
            <a:cxnLst/>
            <a:rect r="r" b="b" t="t" l="l"/>
            <a:pathLst>
              <a:path h="6879503" w="14794629">
                <a:moveTo>
                  <a:pt x="0" y="0"/>
                </a:moveTo>
                <a:lnTo>
                  <a:pt x="14794630" y="0"/>
                </a:lnTo>
                <a:lnTo>
                  <a:pt x="14794630" y="6879503"/>
                </a:lnTo>
                <a:lnTo>
                  <a:pt x="0" y="6879503"/>
                </a:lnTo>
                <a:lnTo>
                  <a:pt x="0" y="0"/>
                </a:lnTo>
                <a:close/>
              </a:path>
            </a:pathLst>
          </a:custGeom>
          <a:blipFill>
            <a:blip r:embed="rId3"/>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424274" y="15849"/>
            <a:ext cx="10084446" cy="10271151"/>
            <a:chOff x="0" y="0"/>
            <a:chExt cx="2655986" cy="2705159"/>
          </a:xfrm>
        </p:grpSpPr>
        <p:sp>
          <p:nvSpPr>
            <p:cNvPr name="Freeform 3" id="3"/>
            <p:cNvSpPr/>
            <p:nvPr/>
          </p:nvSpPr>
          <p:spPr>
            <a:xfrm flipH="false" flipV="false" rot="0">
              <a:off x="0" y="0"/>
              <a:ext cx="2655986" cy="2705159"/>
            </a:xfrm>
            <a:custGeom>
              <a:avLst/>
              <a:gdLst/>
              <a:ahLst/>
              <a:cxnLst/>
              <a:rect r="r" b="b" t="t" l="l"/>
              <a:pathLst>
                <a:path h="2705159" w="2655986">
                  <a:moveTo>
                    <a:pt x="0" y="0"/>
                  </a:moveTo>
                  <a:lnTo>
                    <a:pt x="2655986" y="0"/>
                  </a:lnTo>
                  <a:lnTo>
                    <a:pt x="2655986" y="2705159"/>
                  </a:lnTo>
                  <a:lnTo>
                    <a:pt x="0" y="2705159"/>
                  </a:lnTo>
                  <a:close/>
                </a:path>
              </a:pathLst>
            </a:custGeom>
            <a:solidFill>
              <a:srgbClr val="7994A0"/>
            </a:solidFill>
          </p:spPr>
        </p:sp>
        <p:sp>
          <p:nvSpPr>
            <p:cNvPr name="TextBox 4" id="4"/>
            <p:cNvSpPr txBox="true"/>
            <p:nvPr/>
          </p:nvSpPr>
          <p:spPr>
            <a:xfrm>
              <a:off x="0" y="-47625"/>
              <a:ext cx="2655986" cy="2752784"/>
            </a:xfrm>
            <a:prstGeom prst="rect">
              <a:avLst/>
            </a:prstGeom>
          </p:spPr>
          <p:txBody>
            <a:bodyPr anchor="ctr" rtlCol="false" tIns="50800" lIns="50800" bIns="50800" rIns="50800"/>
            <a:lstStyle/>
            <a:p>
              <a:pPr algn="ctr">
                <a:lnSpc>
                  <a:spcPts val="3693"/>
                </a:lnSpc>
              </a:pPr>
            </a:p>
          </p:txBody>
        </p:sp>
      </p:grpSp>
      <p:sp>
        <p:nvSpPr>
          <p:cNvPr name="TextBox 5" id="5"/>
          <p:cNvSpPr txBox="true"/>
          <p:nvPr/>
        </p:nvSpPr>
        <p:spPr>
          <a:xfrm rot="0">
            <a:off x="5948793" y="856884"/>
            <a:ext cx="7758112" cy="10699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A9BECB"/>
                </a:solidFill>
                <a:latin typeface="Cormorant Garamond"/>
                <a:ea typeface="Cormorant Garamond"/>
                <a:cs typeface="Cormorant Garamond"/>
                <a:sym typeface="Cormorant Garamond"/>
              </a:rPr>
              <a:t>Sprint </a:t>
            </a:r>
            <a:r>
              <a:rPr lang="en-US" sz="8000" spc="-240" strike="noStrike" u="none">
                <a:solidFill>
                  <a:srgbClr val="F8F8F8"/>
                </a:solidFill>
                <a:latin typeface="Cormorant Garamond"/>
                <a:ea typeface="Cormorant Garamond"/>
                <a:cs typeface="Cormorant Garamond"/>
                <a:sym typeface="Cormorant Garamond"/>
              </a:rPr>
              <a:t>Retrospective</a:t>
            </a:r>
          </a:p>
        </p:txBody>
      </p:sp>
      <p:grpSp>
        <p:nvGrpSpPr>
          <p:cNvPr name="Group 6" id="6"/>
          <p:cNvGrpSpPr/>
          <p:nvPr/>
        </p:nvGrpSpPr>
        <p:grpSpPr>
          <a:xfrm rot="0">
            <a:off x="1028700" y="2236605"/>
            <a:ext cx="6886575" cy="7477125"/>
            <a:chOff x="0" y="0"/>
            <a:chExt cx="9182100" cy="9969500"/>
          </a:xfrm>
        </p:grpSpPr>
        <p:sp>
          <p:nvSpPr>
            <p:cNvPr name="TextBox 7" id="7"/>
            <p:cNvSpPr txBox="true"/>
            <p:nvPr/>
          </p:nvSpPr>
          <p:spPr>
            <a:xfrm rot="0">
              <a:off x="0" y="1515745"/>
              <a:ext cx="9182100" cy="8453755"/>
            </a:xfrm>
            <a:prstGeom prst="rect">
              <a:avLst/>
            </a:prstGeom>
          </p:spPr>
          <p:txBody>
            <a:bodyPr anchor="t" rtlCol="false" tIns="0" lIns="0" bIns="0" rIns="0">
              <a:spAutoFit/>
            </a:bodyPr>
            <a:lstStyle/>
            <a:p>
              <a:pPr algn="l" marL="0" indent="0" lvl="0">
                <a:lnSpc>
                  <a:spcPts val="5040"/>
                </a:lnSpc>
              </a:pPr>
              <a:r>
                <a:rPr lang="en-US" sz="3600">
                  <a:solidFill>
                    <a:srgbClr val="5A6A7A"/>
                  </a:solidFill>
                  <a:latin typeface="Cormorant Garamond"/>
                  <a:ea typeface="Cormorant Garamond"/>
                  <a:cs typeface="Cormorant Garamond"/>
                  <a:sym typeface="Cormorant Garamond"/>
                </a:rPr>
                <a:t>•Strong team collaboration throughout the sprint</a:t>
              </a:r>
            </a:p>
            <a:p>
              <a:pPr algn="l" marL="0" indent="0" lvl="0">
                <a:lnSpc>
                  <a:spcPts val="5040"/>
                </a:lnSpc>
              </a:pPr>
              <a:r>
                <a:rPr lang="en-US" sz="3600">
                  <a:solidFill>
                    <a:srgbClr val="5A6A7A"/>
                  </a:solidFill>
                  <a:latin typeface="Cormorant Garamond"/>
                  <a:ea typeface="Cormorant Garamond"/>
                  <a:cs typeface="Cormorant Garamond"/>
                  <a:sym typeface="Cormorant Garamond"/>
                </a:rPr>
                <a:t>•All critical bugs resolved before demo</a:t>
              </a:r>
            </a:p>
            <a:p>
              <a:pPr algn="l" marL="0" indent="0" lvl="0">
                <a:lnSpc>
                  <a:spcPts val="5040"/>
                </a:lnSpc>
              </a:pPr>
              <a:r>
                <a:rPr lang="en-US" sz="3600">
                  <a:solidFill>
                    <a:srgbClr val="5A6A7A"/>
                  </a:solidFill>
                  <a:latin typeface="Cormorant Garamond"/>
                  <a:ea typeface="Cormorant Garamond"/>
                  <a:cs typeface="Cormorant Garamond"/>
                  <a:sym typeface="Cormorant Garamond"/>
                </a:rPr>
                <a:t>•Daily standups stayed focused &amp; time-boxed</a:t>
              </a:r>
            </a:p>
            <a:p>
              <a:pPr algn="l" marL="0" indent="0" lvl="0">
                <a:lnSpc>
                  <a:spcPts val="5040"/>
                </a:lnSpc>
              </a:pPr>
              <a:r>
                <a:rPr lang="en-US" sz="3600">
                  <a:solidFill>
                    <a:srgbClr val="5A6A7A"/>
                  </a:solidFill>
                  <a:latin typeface="Cormorant Garamond"/>
                  <a:ea typeface="Cormorant Garamond"/>
                  <a:cs typeface="Cormorant Garamond"/>
                  <a:sym typeface="Cormorant Garamond"/>
                </a:rPr>
                <a:t>•Code reviews completed within 24 hours</a:t>
              </a:r>
            </a:p>
            <a:p>
              <a:pPr algn="l" marL="0" indent="0" lvl="0">
                <a:lnSpc>
                  <a:spcPts val="5040"/>
                </a:lnSpc>
              </a:pPr>
              <a:r>
                <a:rPr lang="en-US" sz="3600">
                  <a:solidFill>
                    <a:srgbClr val="5A6A7A"/>
                  </a:solidFill>
                  <a:latin typeface="Cormorant Garamond"/>
                  <a:ea typeface="Cormorant Garamond"/>
                  <a:cs typeface="Cormorant Garamond"/>
                  <a:sym typeface="Cormorant Garamond"/>
                </a:rPr>
                <a:t>•SLA engine delivered on schedule</a:t>
              </a:r>
            </a:p>
            <a:p>
              <a:pPr algn="l" marL="0" indent="0" lvl="0">
                <a:lnSpc>
                  <a:spcPts val="5040"/>
                </a:lnSpc>
              </a:pPr>
              <a:r>
                <a:rPr lang="en-US" sz="3600">
                  <a:solidFill>
                    <a:srgbClr val="5A6A7A"/>
                  </a:solidFill>
                  <a:latin typeface="Cormorant Garamond"/>
                  <a:ea typeface="Cormorant Garamond"/>
                  <a:cs typeface="Cormorant Garamond"/>
                  <a:sym typeface="Cormorant Garamond"/>
                </a:rPr>
                <a:t>•Good test coverage on ticket module</a:t>
              </a:r>
            </a:p>
            <a:p>
              <a:pPr algn="l" marL="0" indent="0" lvl="0">
                <a:lnSpc>
                  <a:spcPts val="5040"/>
                </a:lnSpc>
              </a:pPr>
            </a:p>
          </p:txBody>
        </p:sp>
        <p:sp>
          <p:nvSpPr>
            <p:cNvPr name="TextBox 8" id="8"/>
            <p:cNvSpPr txBox="true"/>
            <p:nvPr/>
          </p:nvSpPr>
          <p:spPr>
            <a:xfrm rot="0">
              <a:off x="0" y="-104775"/>
              <a:ext cx="9182100" cy="1235922"/>
            </a:xfrm>
            <a:prstGeom prst="rect">
              <a:avLst/>
            </a:prstGeom>
          </p:spPr>
          <p:txBody>
            <a:bodyPr anchor="t" rtlCol="false" tIns="0" lIns="0" bIns="0" rIns="0">
              <a:spAutoFit/>
            </a:bodyPr>
            <a:lstStyle/>
            <a:p>
              <a:pPr algn="l" marL="0" indent="0" lvl="0">
                <a:lnSpc>
                  <a:spcPts val="7840"/>
                </a:lnSpc>
                <a:spcBef>
                  <a:spcPct val="0"/>
                </a:spcBef>
              </a:pPr>
              <a:r>
                <a:rPr lang="en-US" sz="5600" spc="-168" strike="noStrike">
                  <a:solidFill>
                    <a:srgbClr val="5A6A7A"/>
                  </a:solidFill>
                  <a:latin typeface="Cormorant Garamond"/>
                  <a:ea typeface="Cormorant Garamond"/>
                  <a:cs typeface="Cormorant Garamond"/>
                  <a:sym typeface="Cormorant Garamond"/>
                </a:rPr>
                <a:t>Went Well</a:t>
              </a:r>
            </a:p>
          </p:txBody>
        </p:sp>
      </p:grpSp>
      <p:grpSp>
        <p:nvGrpSpPr>
          <p:cNvPr name="Group 9" id="9"/>
          <p:cNvGrpSpPr/>
          <p:nvPr/>
        </p:nvGrpSpPr>
        <p:grpSpPr>
          <a:xfrm rot="0">
            <a:off x="9483745" y="2236605"/>
            <a:ext cx="6886575" cy="6838950"/>
            <a:chOff x="0" y="0"/>
            <a:chExt cx="9182100" cy="9118600"/>
          </a:xfrm>
        </p:grpSpPr>
        <p:sp>
          <p:nvSpPr>
            <p:cNvPr name="TextBox 10" id="10"/>
            <p:cNvSpPr txBox="true"/>
            <p:nvPr/>
          </p:nvSpPr>
          <p:spPr>
            <a:xfrm rot="0">
              <a:off x="0" y="1515745"/>
              <a:ext cx="9182100" cy="7602855"/>
            </a:xfrm>
            <a:prstGeom prst="rect">
              <a:avLst/>
            </a:prstGeom>
          </p:spPr>
          <p:txBody>
            <a:bodyPr anchor="t" rtlCol="false" tIns="0" lIns="0" bIns="0" rIns="0">
              <a:spAutoFit/>
            </a:bodyPr>
            <a:lstStyle/>
            <a:p>
              <a:pPr algn="l" marL="0" indent="0" lvl="0">
                <a:lnSpc>
                  <a:spcPts val="5040"/>
                </a:lnSpc>
              </a:pPr>
              <a:r>
                <a:rPr lang="en-US" sz="3600">
                  <a:solidFill>
                    <a:srgbClr val="F8F8F8"/>
                  </a:solidFill>
                  <a:latin typeface="Cormorant Garamond"/>
                  <a:ea typeface="Cormorant Garamond"/>
                  <a:cs typeface="Cormorant Garamond"/>
                  <a:sym typeface="Cormorant Garamond"/>
                </a:rPr>
                <a:t>•</a:t>
              </a:r>
              <a:r>
                <a:rPr lang="en-US" sz="3600">
                  <a:solidFill>
                    <a:srgbClr val="F8F8F8"/>
                  </a:solidFill>
                  <a:latin typeface="Cormorant Garamond"/>
                  <a:ea typeface="Cormorant Garamond"/>
                  <a:cs typeface="Cormorant Garamond"/>
                  <a:sym typeface="Cormorant Garamond"/>
                </a:rPr>
                <a:t>Sprint planning took too long (3h+)</a:t>
              </a:r>
            </a:p>
            <a:p>
              <a:pPr algn="l" marL="0" indent="0" lvl="0">
                <a:lnSpc>
                  <a:spcPts val="5040"/>
                </a:lnSpc>
              </a:pPr>
              <a:r>
                <a:rPr lang="en-US" sz="3600">
                  <a:solidFill>
                    <a:srgbClr val="F8F8F8"/>
                  </a:solidFill>
                  <a:latin typeface="Cormorant Garamond"/>
                  <a:ea typeface="Cormorant Garamond"/>
                  <a:cs typeface="Cormorant Garamond"/>
                  <a:sym typeface="Cormorant Garamond"/>
                </a:rPr>
                <a:t>•Some stories were under-estimated</a:t>
              </a:r>
            </a:p>
            <a:p>
              <a:pPr algn="l" marL="0" indent="0" lvl="0">
                <a:lnSpc>
                  <a:spcPts val="5040"/>
                </a:lnSpc>
              </a:pPr>
              <a:r>
                <a:rPr lang="en-US" sz="3600">
                  <a:solidFill>
                    <a:srgbClr val="F8F8F8"/>
                  </a:solidFill>
                  <a:latin typeface="Cormorant Garamond"/>
                  <a:ea typeface="Cormorant Garamond"/>
                  <a:cs typeface="Cormorant Garamond"/>
                  <a:sym typeface="Cormorant Garamond"/>
                </a:rPr>
                <a:t>•Documentation updated late in sprint</a:t>
              </a:r>
            </a:p>
            <a:p>
              <a:pPr algn="l" marL="0" indent="0" lvl="0">
                <a:lnSpc>
                  <a:spcPts val="5040"/>
                </a:lnSpc>
              </a:pPr>
              <a:r>
                <a:rPr lang="en-US" sz="3600">
                  <a:solidFill>
                    <a:srgbClr val="F8F8F8"/>
                  </a:solidFill>
                  <a:latin typeface="Cormorant Garamond"/>
                  <a:ea typeface="Cormorant Garamond"/>
                  <a:cs typeface="Cormorant Garamond"/>
                  <a:sym typeface="Cormorant Garamond"/>
                </a:rPr>
                <a:t>•QA handoff had gaps in acceptance criteria</a:t>
              </a:r>
            </a:p>
            <a:p>
              <a:pPr algn="l" marL="0" indent="0" lvl="0">
                <a:lnSpc>
                  <a:spcPts val="5040"/>
                </a:lnSpc>
              </a:pPr>
              <a:r>
                <a:rPr lang="en-US" sz="3600">
                  <a:solidFill>
                    <a:srgbClr val="F8F8F8"/>
                  </a:solidFill>
                  <a:latin typeface="Cormorant Garamond"/>
                  <a:ea typeface="Cormorant Garamond"/>
                  <a:cs typeface="Cormorant Garamond"/>
                  <a:sym typeface="Cormorant Garamond"/>
                </a:rPr>
                <a:t>•Finance module delayed mid-sprint</a:t>
              </a:r>
            </a:p>
            <a:p>
              <a:pPr algn="l" marL="0" indent="0" lvl="0">
                <a:lnSpc>
                  <a:spcPts val="5040"/>
                </a:lnSpc>
              </a:pPr>
              <a:r>
                <a:rPr lang="en-US" sz="3600">
                  <a:solidFill>
                    <a:srgbClr val="F8F8F8"/>
                  </a:solidFill>
                  <a:latin typeface="Cormorant Garamond"/>
                  <a:ea typeface="Cormorant Garamond"/>
                  <a:cs typeface="Cormorant Garamond"/>
                  <a:sym typeface="Cormorant Garamond"/>
                </a:rPr>
                <a:t>•Tech debt not being tracked formally</a:t>
              </a:r>
            </a:p>
            <a:p>
              <a:pPr algn="l" marL="0" indent="0" lvl="0">
                <a:lnSpc>
                  <a:spcPts val="5040"/>
                </a:lnSpc>
              </a:pPr>
            </a:p>
          </p:txBody>
        </p:sp>
        <p:sp>
          <p:nvSpPr>
            <p:cNvPr name="TextBox 11" id="11"/>
            <p:cNvSpPr txBox="true"/>
            <p:nvPr/>
          </p:nvSpPr>
          <p:spPr>
            <a:xfrm rot="0">
              <a:off x="0" y="-104775"/>
              <a:ext cx="9182100" cy="1235922"/>
            </a:xfrm>
            <a:prstGeom prst="rect">
              <a:avLst/>
            </a:prstGeom>
          </p:spPr>
          <p:txBody>
            <a:bodyPr anchor="t" rtlCol="false" tIns="0" lIns="0" bIns="0" rIns="0">
              <a:spAutoFit/>
            </a:bodyPr>
            <a:lstStyle/>
            <a:p>
              <a:pPr algn="l" marL="0" indent="0" lvl="0">
                <a:lnSpc>
                  <a:spcPts val="7840"/>
                </a:lnSpc>
                <a:spcBef>
                  <a:spcPct val="0"/>
                </a:spcBef>
              </a:pPr>
              <a:r>
                <a:rPr lang="en-US" sz="5600" spc="-168" strike="noStrike">
                  <a:solidFill>
                    <a:srgbClr val="F8F8F8"/>
                  </a:solidFill>
                  <a:latin typeface="Cormorant Garamond"/>
                  <a:ea typeface="Cormorant Garamond"/>
                  <a:cs typeface="Cormorant Garamond"/>
                  <a:sym typeface="Cormorant Garamond"/>
                </a:rPr>
                <a:t>Needs Improvement</a:t>
              </a:r>
            </a:p>
          </p:txBody>
        </p:sp>
      </p:grpSp>
    </p:spTree>
  </p:cSld>
  <p:clrMapOvr>
    <a:masterClrMapping/>
  </p:clrMapOvr>
</p:sld>
</file>

<file path=ppt/slides/slide2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8402791" y="15849"/>
            <a:ext cx="10084446" cy="10271151"/>
            <a:chOff x="0" y="0"/>
            <a:chExt cx="2655986" cy="2705159"/>
          </a:xfrm>
        </p:grpSpPr>
        <p:sp>
          <p:nvSpPr>
            <p:cNvPr name="Freeform 3" id="3"/>
            <p:cNvSpPr/>
            <p:nvPr/>
          </p:nvSpPr>
          <p:spPr>
            <a:xfrm flipH="false" flipV="false" rot="0">
              <a:off x="0" y="0"/>
              <a:ext cx="2655986" cy="2705159"/>
            </a:xfrm>
            <a:custGeom>
              <a:avLst/>
              <a:gdLst/>
              <a:ahLst/>
              <a:cxnLst/>
              <a:rect r="r" b="b" t="t" l="l"/>
              <a:pathLst>
                <a:path h="2705159" w="2655986">
                  <a:moveTo>
                    <a:pt x="0" y="0"/>
                  </a:moveTo>
                  <a:lnTo>
                    <a:pt x="2655986" y="0"/>
                  </a:lnTo>
                  <a:lnTo>
                    <a:pt x="2655986" y="2705159"/>
                  </a:lnTo>
                  <a:lnTo>
                    <a:pt x="0" y="2705159"/>
                  </a:lnTo>
                  <a:close/>
                </a:path>
              </a:pathLst>
            </a:custGeom>
            <a:solidFill>
              <a:srgbClr val="7994A0"/>
            </a:solidFill>
          </p:spPr>
        </p:sp>
        <p:sp>
          <p:nvSpPr>
            <p:cNvPr name="TextBox 4" id="4"/>
            <p:cNvSpPr txBox="true"/>
            <p:nvPr/>
          </p:nvSpPr>
          <p:spPr>
            <a:xfrm>
              <a:off x="0" y="-47625"/>
              <a:ext cx="2655986" cy="2752784"/>
            </a:xfrm>
            <a:prstGeom prst="rect">
              <a:avLst/>
            </a:prstGeom>
          </p:spPr>
          <p:txBody>
            <a:bodyPr anchor="ctr" rtlCol="false" tIns="50800" lIns="50800" bIns="50800" rIns="50800"/>
            <a:lstStyle/>
            <a:p>
              <a:pPr algn="ctr">
                <a:lnSpc>
                  <a:spcPts val="3693"/>
                </a:lnSpc>
              </a:pPr>
            </a:p>
          </p:txBody>
        </p:sp>
      </p:grpSp>
      <p:sp>
        <p:nvSpPr>
          <p:cNvPr name="TextBox 5" id="5"/>
          <p:cNvSpPr txBox="true"/>
          <p:nvPr/>
        </p:nvSpPr>
        <p:spPr>
          <a:xfrm rot="0">
            <a:off x="5948793" y="856884"/>
            <a:ext cx="7758112" cy="1069976"/>
          </a:xfrm>
          <a:prstGeom prst="rect">
            <a:avLst/>
          </a:prstGeom>
        </p:spPr>
        <p:txBody>
          <a:bodyPr anchor="t" rtlCol="false" tIns="0" lIns="0" bIns="0" rIns="0">
            <a:spAutoFit/>
          </a:bodyPr>
          <a:lstStyle/>
          <a:p>
            <a:pPr algn="l" marL="0" indent="0" lvl="0">
              <a:lnSpc>
                <a:spcPts val="8000"/>
              </a:lnSpc>
              <a:spcBef>
                <a:spcPct val="0"/>
              </a:spcBef>
            </a:pPr>
            <a:r>
              <a:rPr lang="en-US" sz="8000" spc="-240" strike="noStrike" u="none">
                <a:solidFill>
                  <a:srgbClr val="A9BECB"/>
                </a:solidFill>
                <a:latin typeface="Cormorant Garamond"/>
                <a:ea typeface="Cormorant Garamond"/>
                <a:cs typeface="Cormorant Garamond"/>
                <a:sym typeface="Cormorant Garamond"/>
              </a:rPr>
              <a:t>Sprint </a:t>
            </a:r>
            <a:r>
              <a:rPr lang="en-US" sz="8000" spc="-240" strike="noStrike" u="none">
                <a:solidFill>
                  <a:srgbClr val="F8F8F8"/>
                </a:solidFill>
                <a:latin typeface="Cormorant Garamond"/>
                <a:ea typeface="Cormorant Garamond"/>
                <a:cs typeface="Cormorant Garamond"/>
                <a:sym typeface="Cormorant Garamond"/>
              </a:rPr>
              <a:t>Retrospective</a:t>
            </a:r>
          </a:p>
        </p:txBody>
      </p:sp>
      <p:grpSp>
        <p:nvGrpSpPr>
          <p:cNvPr name="Group 6" id="6"/>
          <p:cNvGrpSpPr/>
          <p:nvPr/>
        </p:nvGrpSpPr>
        <p:grpSpPr>
          <a:xfrm rot="0">
            <a:off x="1028700" y="2236605"/>
            <a:ext cx="6886575" cy="6200775"/>
            <a:chOff x="0" y="0"/>
            <a:chExt cx="9182100" cy="8267700"/>
          </a:xfrm>
        </p:grpSpPr>
        <p:sp>
          <p:nvSpPr>
            <p:cNvPr name="TextBox 7" id="7"/>
            <p:cNvSpPr txBox="true"/>
            <p:nvPr/>
          </p:nvSpPr>
          <p:spPr>
            <a:xfrm rot="0">
              <a:off x="0" y="1515745"/>
              <a:ext cx="9182100" cy="6751955"/>
            </a:xfrm>
            <a:prstGeom prst="rect">
              <a:avLst/>
            </a:prstGeom>
          </p:spPr>
          <p:txBody>
            <a:bodyPr anchor="t" rtlCol="false" tIns="0" lIns="0" bIns="0" rIns="0">
              <a:spAutoFit/>
            </a:bodyPr>
            <a:lstStyle/>
            <a:p>
              <a:pPr algn="l" marL="0" indent="0" lvl="0">
                <a:lnSpc>
                  <a:spcPts val="5040"/>
                </a:lnSpc>
              </a:pPr>
              <a:r>
                <a:rPr lang="en-US" sz="3600">
                  <a:solidFill>
                    <a:srgbClr val="5A6A7A"/>
                  </a:solidFill>
                  <a:latin typeface="Cormorant Garamond"/>
                  <a:ea typeface="Cormorant Garamond"/>
                  <a:cs typeface="Cormorant Garamond"/>
                  <a:sym typeface="Cormorant Garamond"/>
                </a:rPr>
                <a:t>•Skipping retrospective action follow-ups</a:t>
              </a:r>
            </a:p>
            <a:p>
              <a:pPr algn="l" marL="0" indent="0" lvl="0">
                <a:lnSpc>
                  <a:spcPts val="5040"/>
                </a:lnSpc>
              </a:pPr>
              <a:r>
                <a:rPr lang="en-US" sz="3600">
                  <a:solidFill>
                    <a:srgbClr val="5A6A7A"/>
                  </a:solidFill>
                  <a:latin typeface="Cormorant Garamond"/>
                  <a:ea typeface="Cormorant Garamond"/>
                  <a:cs typeface="Cormorant Garamond"/>
                  <a:sym typeface="Cormorant Garamond"/>
                </a:rPr>
                <a:t>•Direct commits to main branch</a:t>
              </a:r>
            </a:p>
            <a:p>
              <a:pPr algn="l" marL="0" indent="0" lvl="0">
                <a:lnSpc>
                  <a:spcPts val="5040"/>
                </a:lnSpc>
              </a:pPr>
              <a:r>
                <a:rPr lang="en-US" sz="3600">
                  <a:solidFill>
                    <a:srgbClr val="5A6A7A"/>
                  </a:solidFill>
                  <a:latin typeface="Cormorant Garamond"/>
                  <a:ea typeface="Cormorant Garamond"/>
                  <a:cs typeface="Cormorant Garamond"/>
                  <a:sym typeface="Cormorant Garamond"/>
                </a:rPr>
                <a:t>•Leaving PR reviews open &gt;48h</a:t>
              </a:r>
            </a:p>
            <a:p>
              <a:pPr algn="l" marL="0" indent="0" lvl="0">
                <a:lnSpc>
                  <a:spcPts val="5040"/>
                </a:lnSpc>
              </a:pPr>
              <a:r>
                <a:rPr lang="en-US" sz="3600">
                  <a:solidFill>
                    <a:srgbClr val="5A6A7A"/>
                  </a:solidFill>
                  <a:latin typeface="Cormorant Garamond"/>
                  <a:ea typeface="Cormorant Garamond"/>
                  <a:cs typeface="Cormorant Garamond"/>
                  <a:sym typeface="Cormorant Garamond"/>
                </a:rPr>
                <a:t>•Inconsistent commit message formats</a:t>
              </a:r>
            </a:p>
            <a:p>
              <a:pPr algn="l" marL="0" indent="0" lvl="0">
                <a:lnSpc>
                  <a:spcPts val="5040"/>
                </a:lnSpc>
              </a:pPr>
              <a:r>
                <a:rPr lang="en-US" sz="3600">
                  <a:solidFill>
                    <a:srgbClr val="5A6A7A"/>
                  </a:solidFill>
                  <a:latin typeface="Cormorant Garamond"/>
                  <a:ea typeface="Cormorant Garamond"/>
                  <a:cs typeface="Cormorant Garamond"/>
                  <a:sym typeface="Cormorant Garamond"/>
                </a:rPr>
                <a:t>•Unplanned scope additions mid-sprint</a:t>
              </a:r>
            </a:p>
            <a:p>
              <a:pPr algn="l" marL="0" indent="0" lvl="0">
                <a:lnSpc>
                  <a:spcPts val="5040"/>
                </a:lnSpc>
              </a:pPr>
            </a:p>
          </p:txBody>
        </p:sp>
        <p:sp>
          <p:nvSpPr>
            <p:cNvPr name="TextBox 8" id="8"/>
            <p:cNvSpPr txBox="true"/>
            <p:nvPr/>
          </p:nvSpPr>
          <p:spPr>
            <a:xfrm rot="0">
              <a:off x="0" y="-104775"/>
              <a:ext cx="9182100" cy="1235922"/>
            </a:xfrm>
            <a:prstGeom prst="rect">
              <a:avLst/>
            </a:prstGeom>
          </p:spPr>
          <p:txBody>
            <a:bodyPr anchor="t" rtlCol="false" tIns="0" lIns="0" bIns="0" rIns="0">
              <a:spAutoFit/>
            </a:bodyPr>
            <a:lstStyle/>
            <a:p>
              <a:pPr algn="l" marL="0" indent="0" lvl="0">
                <a:lnSpc>
                  <a:spcPts val="7840"/>
                </a:lnSpc>
                <a:spcBef>
                  <a:spcPct val="0"/>
                </a:spcBef>
              </a:pPr>
              <a:r>
                <a:rPr lang="en-US" sz="5600" spc="-168">
                  <a:solidFill>
                    <a:srgbClr val="5A6A7A"/>
                  </a:solidFill>
                  <a:latin typeface="Cormorant Garamond"/>
                  <a:ea typeface="Cormorant Garamond"/>
                  <a:cs typeface="Cormorant Garamond"/>
                  <a:sym typeface="Cormorant Garamond"/>
                </a:rPr>
                <a:t>S</a:t>
              </a:r>
              <a:r>
                <a:rPr lang="en-US" sz="5600" spc="-168" strike="noStrike">
                  <a:solidFill>
                    <a:srgbClr val="5A6A7A"/>
                  </a:solidFill>
                  <a:latin typeface="Cormorant Garamond"/>
                  <a:ea typeface="Cormorant Garamond"/>
                  <a:cs typeface="Cormorant Garamond"/>
                  <a:sym typeface="Cormorant Garamond"/>
                </a:rPr>
                <a:t>t</a:t>
              </a:r>
              <a:r>
                <a:rPr lang="en-US" sz="5600" spc="-168" strike="noStrike">
                  <a:solidFill>
                    <a:srgbClr val="5A6A7A"/>
                  </a:solidFill>
                  <a:latin typeface="Cormorant Garamond"/>
                  <a:ea typeface="Cormorant Garamond"/>
                  <a:cs typeface="Cormorant Garamond"/>
                  <a:sym typeface="Cormorant Garamond"/>
                </a:rPr>
                <a:t>op</a:t>
              </a:r>
              <a:r>
                <a:rPr lang="en-US" sz="5600" spc="-168" strike="noStrike">
                  <a:solidFill>
                    <a:srgbClr val="5A6A7A"/>
                  </a:solidFill>
                  <a:latin typeface="Cormorant Garamond"/>
                  <a:ea typeface="Cormorant Garamond"/>
                  <a:cs typeface="Cormorant Garamond"/>
                  <a:sym typeface="Cormorant Garamond"/>
                </a:rPr>
                <a:t> </a:t>
              </a:r>
              <a:r>
                <a:rPr lang="en-US" sz="5600" spc="-168" strike="noStrike">
                  <a:solidFill>
                    <a:srgbClr val="5A6A7A"/>
                  </a:solidFill>
                  <a:latin typeface="Cormorant Garamond"/>
                  <a:ea typeface="Cormorant Garamond"/>
                  <a:cs typeface="Cormorant Garamond"/>
                  <a:sym typeface="Cormorant Garamond"/>
                </a:rPr>
                <a:t>Doing</a:t>
              </a:r>
            </a:p>
          </p:txBody>
        </p:sp>
      </p:grpSp>
      <p:grpSp>
        <p:nvGrpSpPr>
          <p:cNvPr name="Group 9" id="9"/>
          <p:cNvGrpSpPr/>
          <p:nvPr/>
        </p:nvGrpSpPr>
        <p:grpSpPr>
          <a:xfrm rot="0">
            <a:off x="9483745" y="2236605"/>
            <a:ext cx="6886575" cy="8115300"/>
            <a:chOff x="0" y="0"/>
            <a:chExt cx="9182100" cy="10820400"/>
          </a:xfrm>
        </p:grpSpPr>
        <p:sp>
          <p:nvSpPr>
            <p:cNvPr name="TextBox 10" id="10"/>
            <p:cNvSpPr txBox="true"/>
            <p:nvPr/>
          </p:nvSpPr>
          <p:spPr>
            <a:xfrm rot="0">
              <a:off x="0" y="1515745"/>
              <a:ext cx="9182100" cy="9304655"/>
            </a:xfrm>
            <a:prstGeom prst="rect">
              <a:avLst/>
            </a:prstGeom>
          </p:spPr>
          <p:txBody>
            <a:bodyPr anchor="t" rtlCol="false" tIns="0" lIns="0" bIns="0" rIns="0">
              <a:spAutoFit/>
            </a:bodyPr>
            <a:lstStyle/>
            <a:p>
              <a:pPr algn="l" marL="0" indent="0" lvl="0">
                <a:lnSpc>
                  <a:spcPts val="5040"/>
                </a:lnSpc>
              </a:pPr>
              <a:r>
                <a:rPr lang="en-US" sz="3600">
                  <a:solidFill>
                    <a:srgbClr val="F8F8F8"/>
                  </a:solidFill>
                  <a:latin typeface="Cormorant Garamond"/>
                  <a:ea typeface="Cormorant Garamond"/>
                  <a:cs typeface="Cormorant Garamond"/>
                  <a:sym typeface="Cormorant Garamond"/>
                </a:rPr>
                <a:t>•Add s</a:t>
              </a:r>
              <a:r>
                <a:rPr lang="en-US" sz="3600">
                  <a:solidFill>
                    <a:srgbClr val="F8F8F8"/>
                  </a:solidFill>
                  <a:latin typeface="Cormorant Garamond"/>
                  <a:ea typeface="Cormorant Garamond"/>
                  <a:cs typeface="Cormorant Garamond"/>
                  <a:sym typeface="Cormorant Garamond"/>
                </a:rPr>
                <a:t>tory point cap: max 3 per unestimated task</a:t>
              </a:r>
            </a:p>
            <a:p>
              <a:pPr algn="l" marL="0" indent="0" lvl="0">
                <a:lnSpc>
                  <a:spcPts val="5040"/>
                </a:lnSpc>
              </a:pPr>
              <a:r>
                <a:rPr lang="en-US" sz="3600">
                  <a:solidFill>
                    <a:srgbClr val="F8F8F8"/>
                  </a:solidFill>
                  <a:latin typeface="Cormorant Garamond"/>
                  <a:ea typeface="Cormorant Garamond"/>
                  <a:cs typeface="Cormorant Garamond"/>
                  <a:sym typeface="Cormorant Garamond"/>
                </a:rPr>
                <a:t>•Create DoD checklist for all tickets</a:t>
              </a:r>
            </a:p>
            <a:p>
              <a:pPr algn="l" marL="0" indent="0" lvl="0">
                <a:lnSpc>
                  <a:spcPts val="5040"/>
                </a:lnSpc>
              </a:pPr>
              <a:r>
                <a:rPr lang="en-US" sz="3600">
                  <a:solidFill>
                    <a:srgbClr val="F8F8F8"/>
                  </a:solidFill>
                  <a:latin typeface="Cormorant Garamond"/>
                  <a:ea typeface="Cormorant Garamond"/>
                  <a:cs typeface="Cormorant Garamond"/>
                  <a:sym typeface="Cormorant Garamond"/>
                </a:rPr>
                <a:t>•Set up automated linting for commit messages</a:t>
              </a:r>
            </a:p>
            <a:p>
              <a:pPr algn="l" marL="0" indent="0" lvl="0">
                <a:lnSpc>
                  <a:spcPts val="5040"/>
                </a:lnSpc>
              </a:pPr>
              <a:r>
                <a:rPr lang="en-US" sz="3600">
                  <a:solidFill>
                    <a:srgbClr val="F8F8F8"/>
                  </a:solidFill>
                  <a:latin typeface="Cormorant Garamond"/>
                  <a:ea typeface="Cormorant Garamond"/>
                  <a:cs typeface="Cormorant Garamond"/>
                  <a:sym typeface="Cormorant Garamond"/>
                </a:rPr>
                <a:t>•Block main branch — PRs required</a:t>
              </a:r>
            </a:p>
            <a:p>
              <a:pPr algn="l" marL="0" indent="0" lvl="0">
                <a:lnSpc>
                  <a:spcPts val="5040"/>
                </a:lnSpc>
              </a:pPr>
              <a:r>
                <a:rPr lang="en-US" sz="3600">
                  <a:solidFill>
                    <a:srgbClr val="F8F8F8"/>
                  </a:solidFill>
                  <a:latin typeface="Cormorant Garamond"/>
                  <a:ea typeface="Cormorant Garamond"/>
                  <a:cs typeface="Cormorant Garamond"/>
                  <a:sym typeface="Cormorant Garamond"/>
                </a:rPr>
                <a:t>•Tech debt backlog item added each sprint</a:t>
              </a:r>
            </a:p>
            <a:p>
              <a:pPr algn="l" marL="0" indent="0" lvl="0">
                <a:lnSpc>
                  <a:spcPts val="5040"/>
                </a:lnSpc>
              </a:pPr>
              <a:r>
                <a:rPr lang="en-US" sz="3600">
                  <a:solidFill>
                    <a:srgbClr val="F8F8F8"/>
                  </a:solidFill>
                  <a:latin typeface="Cormorant Garamond"/>
                  <a:ea typeface="Cormorant Garamond"/>
                  <a:cs typeface="Cormorant Garamond"/>
                  <a:sym typeface="Cormorant Garamond"/>
                </a:rPr>
                <a:t>•Acceptance criteria mandatory before sprint start</a:t>
              </a:r>
            </a:p>
            <a:p>
              <a:pPr algn="l" marL="0" indent="0" lvl="0">
                <a:lnSpc>
                  <a:spcPts val="5040"/>
                </a:lnSpc>
              </a:pPr>
            </a:p>
          </p:txBody>
        </p:sp>
        <p:sp>
          <p:nvSpPr>
            <p:cNvPr name="TextBox 11" id="11"/>
            <p:cNvSpPr txBox="true"/>
            <p:nvPr/>
          </p:nvSpPr>
          <p:spPr>
            <a:xfrm rot="0">
              <a:off x="0" y="-104775"/>
              <a:ext cx="9182100" cy="1235922"/>
            </a:xfrm>
            <a:prstGeom prst="rect">
              <a:avLst/>
            </a:prstGeom>
          </p:spPr>
          <p:txBody>
            <a:bodyPr anchor="t" rtlCol="false" tIns="0" lIns="0" bIns="0" rIns="0">
              <a:spAutoFit/>
            </a:bodyPr>
            <a:lstStyle/>
            <a:p>
              <a:pPr algn="l" marL="0" indent="0" lvl="0">
                <a:lnSpc>
                  <a:spcPts val="7840"/>
                </a:lnSpc>
                <a:spcBef>
                  <a:spcPct val="0"/>
                </a:spcBef>
              </a:pPr>
              <a:r>
                <a:rPr lang="en-US" sz="5600" spc="-168">
                  <a:solidFill>
                    <a:srgbClr val="F8F8F8"/>
                  </a:solidFill>
                  <a:latin typeface="Cormorant Garamond"/>
                  <a:ea typeface="Cormorant Garamond"/>
                  <a:cs typeface="Cormorant Garamond"/>
                  <a:sym typeface="Cormorant Garamond"/>
                </a:rPr>
                <a:t>Action</a:t>
              </a:r>
              <a:r>
                <a:rPr lang="en-US" sz="5600" spc="-168" strike="noStrike">
                  <a:solidFill>
                    <a:srgbClr val="F8F8F8"/>
                  </a:solidFill>
                  <a:latin typeface="Cormorant Garamond"/>
                  <a:ea typeface="Cormorant Garamond"/>
                  <a:cs typeface="Cormorant Garamond"/>
                  <a:sym typeface="Cormorant Garamond"/>
                </a:rPr>
                <a:t> I</a:t>
              </a:r>
              <a:r>
                <a:rPr lang="en-US" sz="5600" spc="-168" strike="noStrike">
                  <a:solidFill>
                    <a:srgbClr val="F8F8F8"/>
                  </a:solidFill>
                  <a:latin typeface="Cormorant Garamond"/>
                  <a:ea typeface="Cormorant Garamond"/>
                  <a:cs typeface="Cormorant Garamond"/>
                  <a:sym typeface="Cormorant Garamond"/>
                </a:rPr>
                <a:t>t</a:t>
              </a:r>
              <a:r>
                <a:rPr lang="en-US" sz="5600" spc="-168" strike="noStrike">
                  <a:solidFill>
                    <a:srgbClr val="F8F8F8"/>
                  </a:solidFill>
                  <a:latin typeface="Cormorant Garamond"/>
                  <a:ea typeface="Cormorant Garamond"/>
                  <a:cs typeface="Cormorant Garamond"/>
                  <a:sym typeface="Cormorant Garamond"/>
                </a:rPr>
                <a:t>em</a:t>
              </a:r>
              <a:r>
                <a:rPr lang="en-US" sz="5600" spc="-168" strike="noStrike">
                  <a:solidFill>
                    <a:srgbClr val="F8F8F8"/>
                  </a:solidFill>
                  <a:latin typeface="Cormorant Garamond"/>
                  <a:ea typeface="Cormorant Garamond"/>
                  <a:cs typeface="Cormorant Garamond"/>
                  <a:sym typeface="Cormorant Garamond"/>
                </a:rPr>
                <a:t>s</a:t>
              </a:r>
            </a:p>
          </p:txBody>
        </p:sp>
      </p:grpSp>
    </p:spTree>
  </p:cSld>
  <p:clrMapOvr>
    <a:masterClrMapping/>
  </p:clrMapOvr>
</p:sld>
</file>

<file path=ppt/slides/slide27.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4816593" cy="2709333"/>
          </a:xfrm>
        </p:grpSpPr>
        <p:sp>
          <p:nvSpPr>
            <p:cNvPr name="Freeform 3" id="3"/>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DBE5EA"/>
            </a:solidFill>
          </p:spPr>
        </p:sp>
        <p:sp>
          <p:nvSpPr>
            <p:cNvPr name="TextBox 4" id="4"/>
            <p:cNvSpPr txBox="true"/>
            <p:nvPr/>
          </p:nvSpPr>
          <p:spPr>
            <a:xfrm>
              <a:off x="0" y="-123825"/>
              <a:ext cx="4816593" cy="2833158"/>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1028700" y="1155969"/>
            <a:ext cx="12831685" cy="953135"/>
          </a:xfrm>
          <a:prstGeom prst="rect">
            <a:avLst/>
          </a:prstGeom>
        </p:spPr>
        <p:txBody>
          <a:bodyPr anchor="t" rtlCol="false" tIns="0" lIns="0" bIns="0" rIns="0">
            <a:spAutoFit/>
          </a:bodyPr>
          <a:lstStyle/>
          <a:p>
            <a:pPr algn="ctr">
              <a:lnSpc>
                <a:spcPts val="7840"/>
              </a:lnSpc>
              <a:spcBef>
                <a:spcPct val="0"/>
              </a:spcBef>
            </a:pPr>
            <a:r>
              <a:rPr lang="en-US" b="true" sz="5600" i="true">
                <a:solidFill>
                  <a:srgbClr val="000000"/>
                </a:solidFill>
                <a:latin typeface="Cormorant Garamond Bold Italics"/>
                <a:ea typeface="Cormorant Garamond Bold Italics"/>
                <a:cs typeface="Cormorant Garamond Bold Italics"/>
                <a:sym typeface="Cormorant Garamond Bold Italics"/>
              </a:rPr>
              <a:t>Stories Planned for Sprint 4 (product backlog):</a:t>
            </a:r>
          </a:p>
        </p:txBody>
      </p:sp>
      <p:grpSp>
        <p:nvGrpSpPr>
          <p:cNvPr name="Group 6" id="6"/>
          <p:cNvGrpSpPr/>
          <p:nvPr/>
        </p:nvGrpSpPr>
        <p:grpSpPr>
          <a:xfrm rot="0">
            <a:off x="1323174" y="2475797"/>
            <a:ext cx="15641651" cy="5335406"/>
            <a:chOff x="0" y="0"/>
            <a:chExt cx="20855535" cy="7113875"/>
          </a:xfrm>
        </p:grpSpPr>
        <p:sp>
          <p:nvSpPr>
            <p:cNvPr name="TextBox 7" id="7"/>
            <p:cNvSpPr txBox="true"/>
            <p:nvPr/>
          </p:nvSpPr>
          <p:spPr>
            <a:xfrm rot="0">
              <a:off x="0" y="-85725"/>
              <a:ext cx="18557974" cy="978111"/>
            </a:xfrm>
            <a:prstGeom prst="rect">
              <a:avLst/>
            </a:prstGeom>
          </p:spPr>
          <p:txBody>
            <a:bodyPr anchor="t" rtlCol="false" tIns="0" lIns="0" bIns="0" rIns="0">
              <a:spAutoFit/>
            </a:bodyPr>
            <a:lstStyle/>
            <a:p>
              <a:pPr algn="l">
                <a:lnSpc>
                  <a:spcPts val="6160"/>
                </a:lnSpc>
                <a:spcBef>
                  <a:spcPct val="0"/>
                </a:spcBef>
              </a:pPr>
              <a:r>
                <a:rPr lang="en-US" b="true" sz="4400" i="true">
                  <a:solidFill>
                    <a:srgbClr val="000000"/>
                  </a:solidFill>
                  <a:latin typeface="Cormorant Garamond Bold Italics"/>
                  <a:ea typeface="Cormorant Garamond Bold Italics"/>
                  <a:cs typeface="Cormorant Garamond Bold Italics"/>
                  <a:sym typeface="Cormorant Garamond Bold Italics"/>
                </a:rPr>
                <a:t>🔹 Continue UI/UX enhancements for better usability</a:t>
              </a:r>
            </a:p>
          </p:txBody>
        </p:sp>
        <p:sp>
          <p:nvSpPr>
            <p:cNvPr name="TextBox 8" id="8"/>
            <p:cNvSpPr txBox="true"/>
            <p:nvPr/>
          </p:nvSpPr>
          <p:spPr>
            <a:xfrm rot="0">
              <a:off x="0" y="1016822"/>
              <a:ext cx="20855535" cy="978111"/>
            </a:xfrm>
            <a:prstGeom prst="rect">
              <a:avLst/>
            </a:prstGeom>
          </p:spPr>
          <p:txBody>
            <a:bodyPr anchor="t" rtlCol="false" tIns="0" lIns="0" bIns="0" rIns="0">
              <a:spAutoFit/>
            </a:bodyPr>
            <a:lstStyle/>
            <a:p>
              <a:pPr algn="l">
                <a:lnSpc>
                  <a:spcPts val="6160"/>
                </a:lnSpc>
                <a:spcBef>
                  <a:spcPct val="0"/>
                </a:spcBef>
              </a:pPr>
              <a:r>
                <a:rPr lang="en-US" b="true" sz="4400" i="true">
                  <a:solidFill>
                    <a:srgbClr val="000000"/>
                  </a:solidFill>
                  <a:latin typeface="Cormorant Garamond Bold Italics"/>
                  <a:ea typeface="Cormorant Garamond Bold Italics"/>
                  <a:cs typeface="Cormorant Garamond Bold Italics"/>
                  <a:sym typeface="Cormorant Garamond Bold Italics"/>
                </a:rPr>
                <a:t>🔹 Implement advanced reporting dashboards</a:t>
              </a:r>
            </a:p>
          </p:txBody>
        </p:sp>
        <p:sp>
          <p:nvSpPr>
            <p:cNvPr name="TextBox 9" id="9"/>
            <p:cNvSpPr txBox="true"/>
            <p:nvPr/>
          </p:nvSpPr>
          <p:spPr>
            <a:xfrm rot="0">
              <a:off x="0" y="2125108"/>
              <a:ext cx="20855535" cy="978111"/>
            </a:xfrm>
            <a:prstGeom prst="rect">
              <a:avLst/>
            </a:prstGeom>
          </p:spPr>
          <p:txBody>
            <a:bodyPr anchor="t" rtlCol="false" tIns="0" lIns="0" bIns="0" rIns="0">
              <a:spAutoFit/>
            </a:bodyPr>
            <a:lstStyle/>
            <a:p>
              <a:pPr algn="l">
                <a:lnSpc>
                  <a:spcPts val="6160"/>
                </a:lnSpc>
                <a:spcBef>
                  <a:spcPct val="0"/>
                </a:spcBef>
              </a:pPr>
              <a:r>
                <a:rPr lang="en-US" b="true" sz="4400" i="true">
                  <a:solidFill>
                    <a:srgbClr val="000000"/>
                  </a:solidFill>
                  <a:latin typeface="Cormorant Garamond Bold Italics"/>
                  <a:ea typeface="Cormorant Garamond Bold Italics"/>
                  <a:cs typeface="Cormorant Garamond Bold Italics"/>
                  <a:sym typeface="Cormorant Garamond Bold Italics"/>
                </a:rPr>
                <a:t>🔹 Improve notification system reliability</a:t>
              </a:r>
            </a:p>
          </p:txBody>
        </p:sp>
        <p:sp>
          <p:nvSpPr>
            <p:cNvPr name="TextBox 10" id="10"/>
            <p:cNvSpPr txBox="true"/>
            <p:nvPr/>
          </p:nvSpPr>
          <p:spPr>
            <a:xfrm rot="0">
              <a:off x="0" y="3461993"/>
              <a:ext cx="20855535" cy="978111"/>
            </a:xfrm>
            <a:prstGeom prst="rect">
              <a:avLst/>
            </a:prstGeom>
          </p:spPr>
          <p:txBody>
            <a:bodyPr anchor="t" rtlCol="false" tIns="0" lIns="0" bIns="0" rIns="0">
              <a:spAutoFit/>
            </a:bodyPr>
            <a:lstStyle/>
            <a:p>
              <a:pPr algn="l">
                <a:lnSpc>
                  <a:spcPts val="6160"/>
                </a:lnSpc>
                <a:spcBef>
                  <a:spcPct val="0"/>
                </a:spcBef>
              </a:pPr>
              <a:r>
                <a:rPr lang="en-US" b="true" sz="4400" i="true">
                  <a:solidFill>
                    <a:srgbClr val="000000"/>
                  </a:solidFill>
                  <a:latin typeface="Cormorant Garamond Bold Italics"/>
                  <a:ea typeface="Cormorant Garamond Bold Italics"/>
                  <a:cs typeface="Cormorant Garamond Bold Italics"/>
                  <a:sym typeface="Cormorant Garamond Bold Italics"/>
                </a:rPr>
                <a:t>🔹 Optimize system performance &amp; database queries</a:t>
              </a:r>
            </a:p>
          </p:txBody>
        </p:sp>
        <p:sp>
          <p:nvSpPr>
            <p:cNvPr name="TextBox 11" id="11"/>
            <p:cNvSpPr txBox="true"/>
            <p:nvPr/>
          </p:nvSpPr>
          <p:spPr>
            <a:xfrm rot="0">
              <a:off x="0" y="4798879"/>
              <a:ext cx="20855535" cy="978111"/>
            </a:xfrm>
            <a:prstGeom prst="rect">
              <a:avLst/>
            </a:prstGeom>
          </p:spPr>
          <p:txBody>
            <a:bodyPr anchor="t" rtlCol="false" tIns="0" lIns="0" bIns="0" rIns="0">
              <a:spAutoFit/>
            </a:bodyPr>
            <a:lstStyle/>
            <a:p>
              <a:pPr algn="l">
                <a:lnSpc>
                  <a:spcPts val="6160"/>
                </a:lnSpc>
                <a:spcBef>
                  <a:spcPct val="0"/>
                </a:spcBef>
              </a:pPr>
              <a:r>
                <a:rPr lang="en-US" b="true" sz="4400" i="true">
                  <a:solidFill>
                    <a:srgbClr val="000000"/>
                  </a:solidFill>
                  <a:latin typeface="Cormorant Garamond Bold Italics"/>
                  <a:ea typeface="Cormorant Garamond Bold Italics"/>
                  <a:cs typeface="Cormorant Garamond Bold Italics"/>
                  <a:sym typeface="Cormorant Garamond Bold Italics"/>
                </a:rPr>
                <a:t>🔹 Enhance security mechanisms</a:t>
              </a:r>
            </a:p>
          </p:txBody>
        </p:sp>
        <p:sp>
          <p:nvSpPr>
            <p:cNvPr name="TextBox 12" id="12"/>
            <p:cNvSpPr txBox="true"/>
            <p:nvPr/>
          </p:nvSpPr>
          <p:spPr>
            <a:xfrm rot="0">
              <a:off x="0" y="6135765"/>
              <a:ext cx="20855535" cy="978111"/>
            </a:xfrm>
            <a:prstGeom prst="rect">
              <a:avLst/>
            </a:prstGeom>
          </p:spPr>
          <p:txBody>
            <a:bodyPr anchor="t" rtlCol="false" tIns="0" lIns="0" bIns="0" rIns="0">
              <a:spAutoFit/>
            </a:bodyPr>
            <a:lstStyle/>
            <a:p>
              <a:pPr algn="l">
                <a:lnSpc>
                  <a:spcPts val="6160"/>
                </a:lnSpc>
                <a:spcBef>
                  <a:spcPct val="0"/>
                </a:spcBef>
              </a:pPr>
              <a:r>
                <a:rPr lang="en-US" b="true" sz="4400" i="true">
                  <a:solidFill>
                    <a:srgbClr val="000000"/>
                  </a:solidFill>
                  <a:latin typeface="Cormorant Garamond Bold Italics"/>
                  <a:ea typeface="Cormorant Garamond Bold Italics"/>
                  <a:cs typeface="Cormorant Garamond Bold Italics"/>
                  <a:sym typeface="Cormorant Garamond Bold Italics"/>
                </a:rPr>
                <a:t>🔹 Set up CI/CD pipeline &amp; monitoring tools</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AutoShape 2" id="2"/>
          <p:cNvSpPr/>
          <p:nvPr/>
        </p:nvSpPr>
        <p:spPr>
          <a:xfrm>
            <a:off x="5897880" y="3568974"/>
            <a:ext cx="6492240" cy="0"/>
          </a:xfrm>
          <a:prstGeom prst="line">
            <a:avLst/>
          </a:prstGeom>
          <a:ln cap="flat" w="76200">
            <a:solidFill>
              <a:srgbClr val="0F4662"/>
            </a:solidFill>
            <a:prstDash val="solid"/>
            <a:headEnd type="none" len="sm" w="sm"/>
            <a:tailEnd type="none" len="sm" w="sm"/>
          </a:ln>
        </p:spPr>
      </p:sp>
      <p:sp>
        <p:nvSpPr>
          <p:cNvPr name="AutoShape 3" id="3"/>
          <p:cNvSpPr/>
          <p:nvPr/>
        </p:nvSpPr>
        <p:spPr>
          <a:xfrm>
            <a:off x="5897880" y="7171009"/>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2470557"/>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8304001" y="8019527"/>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3442710" y="3369664"/>
            <a:ext cx="11402580" cy="3185722"/>
          </a:xfrm>
          <a:prstGeom prst="rect">
            <a:avLst/>
          </a:prstGeom>
        </p:spPr>
        <p:txBody>
          <a:bodyPr anchor="t" rtlCol="false" tIns="0" lIns="0" bIns="0" rIns="0">
            <a:spAutoFit/>
          </a:bodyPr>
          <a:lstStyle/>
          <a:p>
            <a:pPr algn="ctr" marL="0" indent="0" lvl="0">
              <a:lnSpc>
                <a:spcPts val="26009"/>
              </a:lnSpc>
              <a:spcBef>
                <a:spcPct val="0"/>
              </a:spcBef>
            </a:pPr>
            <a:r>
              <a:rPr lang="en-US" b="true" sz="18577" i="true">
                <a:solidFill>
                  <a:srgbClr val="0F4662"/>
                </a:solidFill>
                <a:latin typeface="Cormorant Garamond Bold Italics"/>
                <a:ea typeface="Cormorant Garamond Bold Italics"/>
                <a:cs typeface="Cormorant Garamond Bold Italics"/>
                <a:sym typeface="Cormorant Garamond Bold Italics"/>
              </a:rPr>
              <a:t>Thank you</a:t>
            </a:r>
          </a:p>
        </p:txBody>
      </p:sp>
      <p:sp>
        <p:nvSpPr>
          <p:cNvPr name="AutoShape 3" id="3"/>
          <p:cNvSpPr/>
          <p:nvPr/>
        </p:nvSpPr>
        <p:spPr>
          <a:xfrm>
            <a:off x="5897880" y="2215083"/>
            <a:ext cx="6492240" cy="0"/>
          </a:xfrm>
          <a:prstGeom prst="line">
            <a:avLst/>
          </a:prstGeom>
          <a:ln cap="flat" w="76200">
            <a:solidFill>
              <a:srgbClr val="0F4662"/>
            </a:solidFill>
            <a:prstDash val="solid"/>
            <a:headEnd type="none" len="sm" w="sm"/>
            <a:tailEnd type="none" len="sm" w="sm"/>
          </a:ln>
        </p:spPr>
      </p:sp>
      <p:sp>
        <p:nvSpPr>
          <p:cNvPr name="Freeform 4" id="4"/>
          <p:cNvSpPr/>
          <p:nvPr/>
        </p:nvSpPr>
        <p:spPr>
          <a:xfrm flipH="false" flipV="false" rot="0">
            <a:off x="8304001" y="1116666"/>
            <a:ext cx="1679997" cy="249900"/>
          </a:xfrm>
          <a:custGeom>
            <a:avLst/>
            <a:gdLst/>
            <a:ahLst/>
            <a:cxnLst/>
            <a:rect r="r" b="b" t="t" l="l"/>
            <a:pathLst>
              <a:path h="249900" w="1679997">
                <a:moveTo>
                  <a:pt x="0" y="0"/>
                </a:moveTo>
                <a:lnTo>
                  <a:pt x="1679998" y="0"/>
                </a:lnTo>
                <a:lnTo>
                  <a:pt x="1679998" y="249899"/>
                </a:lnTo>
                <a:lnTo>
                  <a:pt x="0" y="24989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5" id="5"/>
          <p:cNvSpPr/>
          <p:nvPr/>
        </p:nvSpPr>
        <p:spPr>
          <a:xfrm>
            <a:off x="5897880" y="8159883"/>
            <a:ext cx="6492240" cy="0"/>
          </a:xfrm>
          <a:prstGeom prst="line">
            <a:avLst/>
          </a:prstGeom>
          <a:ln cap="flat" w="76200">
            <a:solidFill>
              <a:srgbClr val="0F4662"/>
            </a:solidFill>
            <a:prstDash val="solid"/>
            <a:headEnd type="none" len="sm" w="sm"/>
            <a:tailEnd type="none" len="sm" w="sm"/>
          </a:ln>
        </p:spPr>
      </p:sp>
      <p:sp>
        <p:nvSpPr>
          <p:cNvPr name="Freeform 6" id="6"/>
          <p:cNvSpPr/>
          <p:nvPr/>
        </p:nvSpPr>
        <p:spPr>
          <a:xfrm flipH="false" flipV="false" rot="0">
            <a:off x="8304001" y="9008400"/>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DAHGO55LubU</dc:identifier>
  <dcterms:modified xsi:type="dcterms:W3CDTF">2011-08-01T06:04:30Z</dcterms:modified>
  <cp:revision>1</cp:revision>
  <dc:title>White Blue Simple Modern Enhancing Sales Strategy Presentation</dc:title>
</cp:coreProperties>
</file>